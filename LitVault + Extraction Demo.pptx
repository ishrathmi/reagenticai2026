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63" r:id="rId3"/>
    <p:sldId id="264" r:id="rId4"/>
    <p:sldId id="265" r:id="rId5"/>
    <p:sldId id="266" r:id="rId6"/>
    <p:sldId id="268" r:id="rId7"/>
    <p:sldId id="257" r:id="rId8"/>
    <p:sldId id="259" r:id="rId9"/>
    <p:sldId id="273" r:id="rId10"/>
    <p:sldId id="260" r:id="rId11"/>
    <p:sldId id="269" r:id="rId12"/>
    <p:sldId id="270" r:id="rId13"/>
    <p:sldId id="272" r:id="rId14"/>
    <p:sldId id="275" r:id="rId15"/>
    <p:sldId id="262" r:id="rId16"/>
  </p:sldIdLst>
  <p:sldSz cx="12192000" cy="6858000"/>
  <p:notesSz cx="6858000" cy="12192000"/>
  <p:embeddedFontLst>
    <p:embeddedFont>
      <p:font typeface="Fredoka" pitchFamily="2" charset="-79"/>
      <p:regular r:id="rId18"/>
      <p:bold r:id="rId19"/>
    </p:embeddedFont>
    <p:embeddedFont>
      <p:font typeface="IBM Plex Sans" panose="020B0503050203000203" pitchFamily="34" charset="0"/>
      <p:regular r:id="rId20"/>
      <p:bold r:id="rId21"/>
      <p:italic r:id="rId22"/>
      <p:boldItalic r:id="rId23"/>
    </p:embeddedFont>
    <p:embeddedFont>
      <p:font typeface="Nunito Sans"/>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8746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shows how the two agents fit together. LitVault screens the week’s preprints and decides which papers matter. The Extraction Agent reads those papers and writes the fields we care about into a database that keeps growing every week.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everyone can relate to. Most of us don’t sit down to “do a literature search” — we catch papers in spare minutes, often on our phones, often in the bathroom.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our researcher. Every morning, a few minutes on the toilet, phone in hand. Papers come in from everywhere: social media threads, Slack links from labmates, journal alerts, Scholar recommendations. Whatever is on top of the feed is what gets read.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pun: his literature diet is basically toilet paper. Whatever sheet is next on the roll — a viral thread, a random Slack link, an old keyword alert — that’s what he reads. Not because it’s the most important paper, just because it’s within reach.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yet — despite all that scrolling — his labmate, his PI and a friend still send him papers he never saw. Important ones. Directly relevant to his thesis. They reached him eventually, but secondhand and weeks late.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LitVault. Once a week it screens every new abstract on bioRxiv, medRxiv and ChemRxiv, has Claude score each one for relevance to your topic, groups them into High, Check and Low, and gives you a board where you drag papers into vaults and download the PDFs. You still read on the toilet — but now you read the right papers.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system on one slide. On the left, the sources: every new preprint on bioRxiv, medRxiv and ChemRxiv. Stage one is LitVault. It uses my research profile to screen and score the week’s abstracts, and I file the important ones into a Must read vault. Those PDFs are the handoff. Stage two is the Extraction Agent. It reads each PDF against a schema in fields.yaml, validates the output and retries when the model gets it wrong. Everything lands in a SQLite database that grows every week.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Each PDF goes through a small LangGraph graph: load the PDF, extract the fields, validate every field against its declared type. If the JSON is bad or a type is wrong, the validator tells the model exactly what was wrong and it tries again, up to three times. The schema is just a YAML file — here it’s our MCFA example, one row per microbe — so the same agent works for any topic.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91067-B229-415E-ED5B-B8B638D64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96946-8AB8-4C64-FB8C-5E2387C4B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A3C0E-7B89-04B7-6702-DC941BFE35FA}"/>
              </a:ext>
            </a:extLst>
          </p:cNvPr>
          <p:cNvSpPr>
            <a:spLocks noGrp="1"/>
          </p:cNvSpPr>
          <p:nvPr>
            <p:ph type="body" idx="1"/>
          </p:nvPr>
        </p:nvSpPr>
        <p:spPr/>
        <p:txBody>
          <a:bodyPr/>
          <a:lstStyle/>
          <a:p>
            <a:r>
              <a:rPr lang="en-US" dirty="0"/>
              <a:t>Stage two. Each PDF goes through a small LangGraph graph: load the PDF, extract the fields, validate every field against its declared type. If the JSON is bad or a type is wrong, the validator tells the model exactly what was wrong and it tries again, up to three times. The schema is just a YAML file — here it’s our MCFA example, one row per microbe — so the same agent works for any topic.</a:t>
            </a:r>
          </a:p>
        </p:txBody>
      </p:sp>
      <p:sp>
        <p:nvSpPr>
          <p:cNvPr id="4" name="Slide Number Placeholder 3">
            <a:extLst>
              <a:ext uri="{FF2B5EF4-FFF2-40B4-BE49-F238E27FC236}">
                <a16:creationId xmlns:a16="http://schemas.microsoft.com/office/drawing/2014/main" id="{797F06A7-9EC9-4DC6-ACE6-AED62B22D0C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58685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call it a live database? Four properties. Re-runs only process papers it hasn’t seen, keyed by content hash, and watch mode picks up new PDFs automatically. The schema can grow — add a field, and refill back-fills old papers. The fill step borrows a strain’s isolation source from another paper, but only on a strict match, and it records the source paper so borrowed values are always traceable. And failures are listed, not hidden.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single-run comparison showed 29 against 24. That 24 was one sample from a 23 to 26 range, which is why repeating the run matters before quoting a difference.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40% and 25% titer rows as error rates. The next slide shows that almost all of that movement is rephrasing, not a change in the measurement.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18182-4D64-F298-15CC-1CF8F8D42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FAA91-BE1C-34C2-E20A-E9CE2EB10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2A0EB-3953-DA74-EE52-5AE53D9401F6}"/>
              </a:ext>
            </a:extLst>
          </p:cNvPr>
          <p:cNvSpPr>
            <a:spLocks noGrp="1"/>
          </p:cNvSpPr>
          <p:nvPr>
            <p:ph type="body" idx="1"/>
          </p:nvPr>
        </p:nvSpPr>
        <p:spPr/>
        <p:txBody>
          <a:bodyPr/>
          <a:lstStyle/>
          <a:p>
            <a:r>
              <a:rPr lang="en-US" dirty="0"/>
              <a:t>Do not read the 40% and 25% titer rows as error rates. The next slide shows that almost all of that movement is rephrasing, not a change in the measurement.</a:t>
            </a:r>
          </a:p>
        </p:txBody>
      </p:sp>
      <p:sp>
        <p:nvSpPr>
          <p:cNvPr id="4" name="Slide Number Placeholder 3">
            <a:extLst>
              <a:ext uri="{FF2B5EF4-FFF2-40B4-BE49-F238E27FC236}">
                <a16:creationId xmlns:a16="http://schemas.microsoft.com/office/drawing/2014/main" id="{64011AC9-5F07-028E-00ED-230CAB9094E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531771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92794-6962-D7A0-1835-9B96C5BAA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8AA74-5BD1-9101-B76B-DE029C8C3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8AAA4-94F4-D154-2DBF-57A0A248D744}"/>
              </a:ext>
            </a:extLst>
          </p:cNvPr>
          <p:cNvSpPr>
            <a:spLocks noGrp="1"/>
          </p:cNvSpPr>
          <p:nvPr>
            <p:ph type="body" idx="1"/>
          </p:nvPr>
        </p:nvSpPr>
        <p:spPr/>
        <p:txBody>
          <a:bodyPr/>
          <a:lstStyle/>
          <a:p>
            <a:r>
              <a:rPr lang="en-US" dirty="0"/>
              <a:t>Do not read the 40% and 25% titer rows as error rates. The next slide shows that almost all of that movement is rephrasing, not a change in the measurement.</a:t>
            </a:r>
          </a:p>
        </p:txBody>
      </p:sp>
      <p:sp>
        <p:nvSpPr>
          <p:cNvPr id="4" name="Slide Number Placeholder 3">
            <a:extLst>
              <a:ext uri="{FF2B5EF4-FFF2-40B4-BE49-F238E27FC236}">
                <a16:creationId xmlns:a16="http://schemas.microsoft.com/office/drawing/2014/main" id="{C3269C36-6864-80CC-1C77-EFE92ABD7A4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81300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LitVault is the filter, so nothing important slips past. The Extraction Agent is the memory, so what we read becomes structured data we can query, instead of notes we forget.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7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9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F2A44"/>
                </a:solidFill>
                <a:latin typeface="Fredoka" pitchFamily="34" charset="0"/>
                <a:ea typeface="Fredoka" pitchFamily="34" charset="-122"/>
                <a:cs typeface="Fredok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15120"/>
            <a:ext cx="10566400" cy="4130080"/>
          </a:xfrm>
          <a:prstGeom prst="rect">
            <a:avLst/>
          </a:prstGeom>
          <a:noFill/>
          <a:ln/>
        </p:spPr>
        <p:txBody>
          <a:bodyPr wrap="square" lIns="0" tIns="0" rIns="0" bIns="0" rtlCol="0" anchor="t"/>
          <a:lstStyle>
            <a:lvl1pPr marL="0" indent="0" algn="l">
              <a:lnSpc>
                <a:spcPct val="140000"/>
              </a:lnSpc>
              <a:buNone/>
              <a:defRPr lang="en-US" sz="1600" dirty="0">
                <a:solidFill>
                  <a:srgbClr val="1F2A44"/>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9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F2A44"/>
                </a:solidFill>
                <a:latin typeface="Fredoka" pitchFamily="34" charset="0"/>
                <a:ea typeface="Fredoka" pitchFamily="34" charset="-122"/>
                <a:cs typeface="Fredok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15120"/>
            <a:ext cx="10566400" cy="4130080"/>
          </a:xfrm>
          <a:prstGeom prst="rect">
            <a:avLst/>
          </a:prstGeom>
          <a:noFill/>
          <a:ln/>
        </p:spPr>
        <p:txBody>
          <a:bodyPr wrap="square" lIns="0" tIns="0" rIns="0" bIns="0" rtlCol="0" anchor="t"/>
          <a:lstStyle>
            <a:lvl1pPr marL="0" indent="0" algn="l">
              <a:lnSpc>
                <a:spcPct val="140000"/>
              </a:lnSpc>
              <a:buNone/>
              <a:defRPr lang="en-US" sz="1600" dirty="0">
                <a:solidFill>
                  <a:srgbClr val="1F2A44"/>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EF"/>
        </a:solidFill>
        <a:effectLst/>
      </p:bgPr>
    </p:bg>
    <p:spTree>
      <p:nvGrpSpPr>
        <p:cNvPr id="1" name=""/>
        <p:cNvGrpSpPr/>
        <p:nvPr/>
      </p:nvGrpSpPr>
      <p:grpSpPr>
        <a:xfrm>
          <a:off x="0" y="0"/>
          <a:ext cx="0" cy="0"/>
          <a:chOff x="0" y="0"/>
          <a:chExt cx="0" cy="0"/>
        </a:xfrm>
      </p:grpSpPr>
      <p:sp>
        <p:nvSpPr>
          <p:cNvPr id="2" name="Text 0"/>
          <p:cNvSpPr/>
          <p:nvPr/>
        </p:nvSpPr>
        <p:spPr>
          <a:xfrm>
            <a:off x="812800" y="1724720"/>
            <a:ext cx="5886450"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B85A1B"/>
                </a:solidFill>
                <a:latin typeface="Nunito Sans" pitchFamily="34" charset="0"/>
                <a:ea typeface="Nunito Sans" pitchFamily="34" charset="-122"/>
                <a:cs typeface="Nunito Sans" pitchFamily="34" charset="-120"/>
              </a:rPr>
              <a:t>AGENT ARCHITECTURE</a:t>
            </a:r>
            <a:endParaRPr lang="en-US" sz="1400" dirty="0"/>
          </a:p>
        </p:txBody>
      </p:sp>
      <p:sp>
        <p:nvSpPr>
          <p:cNvPr id="3" name="Text 1"/>
          <p:cNvSpPr>
            <a:spLocks noGrp="1"/>
          </p:cNvSpPr>
          <p:nvPr>
            <p:ph type="title"/>
          </p:nvPr>
        </p:nvSpPr>
        <p:spPr>
          <a:xfrm>
            <a:off x="812800" y="2227610"/>
            <a:ext cx="5886450" cy="203696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1F2A44"/>
                </a:solidFill>
                <a:latin typeface="Fredoka" pitchFamily="34" charset="0"/>
                <a:ea typeface="Fredoka" pitchFamily="34" charset="-122"/>
                <a:cs typeface="Fredoka" pitchFamily="34" charset="-120"/>
              </a:rPr>
              <a:t>From weekly preprints to a live database</a:t>
            </a:r>
            <a:endParaRPr lang="en-US" sz="4800" dirty="0"/>
          </a:p>
        </p:txBody>
      </p:sp>
      <p:sp>
        <p:nvSpPr>
          <p:cNvPr id="4" name="Text 2"/>
          <p:cNvSpPr/>
          <p:nvPr/>
        </p:nvSpPr>
        <p:spPr>
          <a:xfrm>
            <a:off x="812800" y="4493171"/>
            <a:ext cx="5886450"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A5568"/>
                </a:solidFill>
                <a:latin typeface="Nunito Sans" pitchFamily="34" charset="0"/>
                <a:ea typeface="Nunito Sans" pitchFamily="34" charset="-122"/>
                <a:cs typeface="Nunito Sans" pitchFamily="34" charset="-120"/>
              </a:rPr>
              <a:t>LitVault picks the papers worth reading. The Extraction Agent turns them into rows.</a:t>
            </a:r>
            <a:endParaRPr lang="en-US" sz="1800" dirty="0"/>
          </a:p>
        </p:txBody>
      </p:sp>
      <p:sp>
        <p:nvSpPr>
          <p:cNvPr id="5" name="Shape 3"/>
          <p:cNvSpPr/>
          <p:nvPr/>
        </p:nvSpPr>
        <p:spPr>
          <a:xfrm>
            <a:off x="7124700" y="2933700"/>
            <a:ext cx="990600" cy="990600"/>
          </a:xfrm>
          <a:prstGeom prst="roundRect">
            <a:avLst>
              <a:gd name="adj" fmla="val 50000"/>
            </a:avLst>
          </a:prstGeom>
          <a:solidFill>
            <a:srgbClr val="FFFFFF"/>
          </a:solidFill>
          <a:ln w="25400">
            <a:solidFill>
              <a:srgbClr val="E8833A"/>
            </a:solidFill>
            <a:prstDash val="solid"/>
          </a:ln>
        </p:spPr>
        <p:txBody>
          <a:bodyPr/>
          <a:lstStyle/>
          <a:p>
            <a:endParaRPr lang="en-US"/>
          </a:p>
        </p:txBody>
      </p:sp>
      <p:pic>
        <p:nvPicPr>
          <p:cNvPr id="6" name="Image 0" descr="Search"/>
          <p:cNvPicPr>
            <a:picLocks noChangeAspect="1"/>
          </p:cNvPicPr>
          <p:nvPr/>
        </p:nvPicPr>
        <p:blipFill>
          <a:blip r:embed="rId3"/>
          <a:srcRect/>
          <a:stretch/>
        </p:blipFill>
        <p:spPr>
          <a:xfrm>
            <a:off x="7391400" y="3200400"/>
            <a:ext cx="457200" cy="457200"/>
          </a:xfrm>
          <a:prstGeom prst="rect">
            <a:avLst/>
          </a:prstGeom>
        </p:spPr>
      </p:pic>
      <p:sp>
        <p:nvSpPr>
          <p:cNvPr id="7" name="Shape 4"/>
          <p:cNvSpPr/>
          <p:nvPr/>
        </p:nvSpPr>
        <p:spPr>
          <a:xfrm>
            <a:off x="8648700" y="2933700"/>
            <a:ext cx="990600" cy="990600"/>
          </a:xfrm>
          <a:prstGeom prst="roundRect">
            <a:avLst>
              <a:gd name="adj" fmla="val 50000"/>
            </a:avLst>
          </a:prstGeom>
          <a:solidFill>
            <a:srgbClr val="FFFFFF"/>
          </a:solidFill>
          <a:ln w="25400">
            <a:solidFill>
              <a:srgbClr val="3B82C4"/>
            </a:solidFill>
            <a:prstDash val="solid"/>
          </a:ln>
        </p:spPr>
        <p:txBody>
          <a:bodyPr/>
          <a:lstStyle/>
          <a:p>
            <a:endParaRPr lang="en-US"/>
          </a:p>
        </p:txBody>
      </p:sp>
      <p:pic>
        <p:nvPicPr>
          <p:cNvPr id="8" name="Image 1" descr="Tool"/>
          <p:cNvPicPr>
            <a:picLocks noChangeAspect="1"/>
          </p:cNvPicPr>
          <p:nvPr/>
        </p:nvPicPr>
        <p:blipFill>
          <a:blip r:embed="rId4"/>
          <a:srcRect/>
          <a:stretch/>
        </p:blipFill>
        <p:spPr>
          <a:xfrm>
            <a:off x="8915400" y="3200400"/>
            <a:ext cx="457200" cy="457200"/>
          </a:xfrm>
          <a:prstGeom prst="rect">
            <a:avLst/>
          </a:prstGeom>
        </p:spPr>
      </p:pic>
      <p:sp>
        <p:nvSpPr>
          <p:cNvPr id="9" name="Shape 5"/>
          <p:cNvSpPr/>
          <p:nvPr/>
        </p:nvSpPr>
        <p:spPr>
          <a:xfrm>
            <a:off x="10172700" y="2933700"/>
            <a:ext cx="990600" cy="990600"/>
          </a:xfrm>
          <a:prstGeom prst="roundRect">
            <a:avLst>
              <a:gd name="adj" fmla="val 50000"/>
            </a:avLst>
          </a:prstGeom>
          <a:solidFill>
            <a:srgbClr val="1F2A44"/>
          </a:solidFill>
          <a:ln w="25400">
            <a:solidFill>
              <a:srgbClr val="1F2A44"/>
            </a:solidFill>
            <a:prstDash val="solid"/>
          </a:ln>
        </p:spPr>
        <p:txBody>
          <a:bodyPr/>
          <a:lstStyle/>
          <a:p>
            <a:endParaRPr lang="en-US"/>
          </a:p>
        </p:txBody>
      </p:sp>
      <p:pic>
        <p:nvPicPr>
          <p:cNvPr id="10" name="Image 2" descr="Database"/>
          <p:cNvPicPr>
            <a:picLocks noChangeAspect="1"/>
          </p:cNvPicPr>
          <p:nvPr/>
        </p:nvPicPr>
        <p:blipFill>
          <a:blip r:embed="rId5"/>
          <a:srcRect/>
          <a:stretch/>
        </p:blipFill>
        <p:spPr>
          <a:xfrm>
            <a:off x="10439400" y="3200400"/>
            <a:ext cx="457200" cy="457200"/>
          </a:xfrm>
          <a:prstGeom prst="rect">
            <a:avLst/>
          </a:prstGeom>
        </p:spPr>
      </p:pic>
      <p:pic>
        <p:nvPicPr>
          <p:cNvPr id="11" name="Image 3" descr="connector"/>
          <p:cNvPicPr>
            <a:picLocks noChangeAspect="1"/>
          </p:cNvPicPr>
          <p:nvPr/>
        </p:nvPicPr>
        <p:blipFill>
          <a:blip r:embed="rId6"/>
          <a:srcRect/>
          <a:stretch/>
        </p:blipFill>
        <p:spPr>
          <a:xfrm>
            <a:off x="8089900" y="3365500"/>
            <a:ext cx="584200" cy="127000"/>
          </a:xfrm>
          <a:prstGeom prst="rect">
            <a:avLst/>
          </a:prstGeom>
        </p:spPr>
      </p:pic>
      <p:pic>
        <p:nvPicPr>
          <p:cNvPr id="12" name="Image 4" descr="connector"/>
          <p:cNvPicPr>
            <a:picLocks noChangeAspect="1"/>
          </p:cNvPicPr>
          <p:nvPr/>
        </p:nvPicPr>
        <p:blipFill>
          <a:blip r:embed="rId6"/>
          <a:srcRect/>
          <a:stretch/>
        </p:blipFill>
        <p:spPr>
          <a:xfrm>
            <a:off x="9613900" y="3365500"/>
            <a:ext cx="584200" cy="127000"/>
          </a:xfrm>
          <a:prstGeom prst="rect">
            <a:avLst/>
          </a:prstGeom>
        </p:spPr>
      </p:pic>
      <p:sp>
        <p:nvSpPr>
          <p:cNvPr id="13" name="Text 6"/>
          <p:cNvSpPr/>
          <p:nvPr/>
        </p:nvSpPr>
        <p:spPr>
          <a:xfrm>
            <a:off x="6959600" y="4114800"/>
            <a:ext cx="1320800" cy="452041"/>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LitVault</a:t>
            </a:r>
            <a:endParaRPr lang="en-US" sz="1200" dirty="0"/>
          </a:p>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filters</a:t>
            </a:r>
            <a:endParaRPr lang="en-US" sz="1200" dirty="0"/>
          </a:p>
        </p:txBody>
      </p:sp>
      <p:sp>
        <p:nvSpPr>
          <p:cNvPr id="14" name="Text 7"/>
          <p:cNvSpPr/>
          <p:nvPr/>
        </p:nvSpPr>
        <p:spPr>
          <a:xfrm>
            <a:off x="8483600" y="4114800"/>
            <a:ext cx="1320800" cy="452041"/>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Extraction</a:t>
            </a:r>
            <a:endParaRPr lang="en-US" sz="1200" dirty="0"/>
          </a:p>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Agent extracts</a:t>
            </a:r>
            <a:endParaRPr lang="en-US" sz="1200" dirty="0"/>
          </a:p>
        </p:txBody>
      </p:sp>
      <p:sp>
        <p:nvSpPr>
          <p:cNvPr id="15" name="Text 8"/>
          <p:cNvSpPr/>
          <p:nvPr/>
        </p:nvSpPr>
        <p:spPr>
          <a:xfrm>
            <a:off x="10007600" y="4114800"/>
            <a:ext cx="1320800" cy="452041"/>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Database</a:t>
            </a:r>
            <a:endParaRPr lang="en-US" sz="1200" dirty="0"/>
          </a:p>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grows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 person sitting on a toilet, hunched over their phone, with a toilet paper roll on the wall"/>
          <p:cNvPicPr>
            <a:picLocks noChangeAspect="1"/>
          </p:cNvPicPr>
          <p:nvPr/>
        </p:nvPicPr>
        <p:blipFill>
          <a:blip r:embed="rId3"/>
          <a:srcRect/>
          <a:stretch/>
        </p:blipFill>
        <p:spPr>
          <a:xfrm>
            <a:off x="6286500" y="920750"/>
            <a:ext cx="5016500" cy="5016500"/>
          </a:xfrm>
          <a:prstGeom prst="rect">
            <a:avLst/>
          </a:prstGeom>
        </p:spPr>
      </p:pic>
      <p:sp>
        <p:nvSpPr>
          <p:cNvPr id="3" name="Text 0"/>
          <p:cNvSpPr/>
          <p:nvPr/>
        </p:nvSpPr>
        <p:spPr>
          <a:xfrm>
            <a:off x="812800" y="1724720"/>
            <a:ext cx="5363210"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B85A1B"/>
                </a:solidFill>
                <a:latin typeface="Nunito Sans" pitchFamily="34" charset="0"/>
                <a:ea typeface="Nunito Sans" pitchFamily="34" charset="-122"/>
                <a:cs typeface="Nunito Sans" pitchFamily="34" charset="-120"/>
              </a:rPr>
              <a:t>LITVAULT · INTRO</a:t>
            </a:r>
            <a:endParaRPr lang="en-US" sz="1400" dirty="0"/>
          </a:p>
        </p:txBody>
      </p:sp>
      <p:sp>
        <p:nvSpPr>
          <p:cNvPr id="4" name="Text 1"/>
          <p:cNvSpPr>
            <a:spLocks noGrp="1"/>
          </p:cNvSpPr>
          <p:nvPr>
            <p:ph type="title"/>
          </p:nvPr>
        </p:nvSpPr>
        <p:spPr>
          <a:xfrm>
            <a:off x="812800" y="2227610"/>
            <a:ext cx="5363210" cy="2036961"/>
          </a:xfrm>
          <a:prstGeom prst="rect">
            <a:avLst/>
          </a:prstGeom>
          <a:noFill/>
          <a:ln/>
        </p:spPr>
        <p:txBody>
          <a:bodyPr wrap="square" lIns="0" tIns="0" rIns="0" bIns="0" rtlCol="0" anchor="t">
            <a:normAutofit fontScale="90000"/>
          </a:bodyPr>
          <a:lstStyle/>
          <a:p>
            <a:pPr marL="0" indent="0" algn="l">
              <a:lnSpc>
                <a:spcPts val="5280"/>
              </a:lnSpc>
              <a:buNone/>
            </a:pPr>
            <a:r>
              <a:rPr lang="en-US" sz="4800" b="1" i="0" dirty="0">
                <a:solidFill>
                  <a:srgbClr val="1F2A44"/>
                </a:solidFill>
                <a:latin typeface="Fredoka" pitchFamily="34" charset="0"/>
                <a:ea typeface="Fredoka" pitchFamily="34" charset="-122"/>
                <a:cs typeface="Fredoka" pitchFamily="34" charset="-120"/>
              </a:rPr>
              <a:t>A short story about literature reviews on the throne.</a:t>
            </a:r>
            <a:br>
              <a:rPr lang="en-US" sz="4800" b="1" i="0" dirty="0">
                <a:solidFill>
                  <a:srgbClr val="1F2A44"/>
                </a:solidFill>
                <a:latin typeface="Fredoka" pitchFamily="34" charset="0"/>
                <a:ea typeface="Fredoka" pitchFamily="34" charset="-122"/>
                <a:cs typeface="Fredoka" pitchFamily="34" charset="-120"/>
              </a:rPr>
            </a:br>
            <a:endParaRPr lang="en-US" sz="4800" b="1" i="0" dirty="0">
              <a:solidFill>
                <a:srgbClr val="1F2A44"/>
              </a:solidFill>
              <a:latin typeface="Fredoka" pitchFamily="34" charset="0"/>
              <a:ea typeface="Fredoka" pitchFamily="34" charset="-122"/>
              <a:cs typeface="Fredoka"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The same person on the toilet, scrolling their phone"/>
          <p:cNvPicPr>
            <a:picLocks noChangeAspect="1"/>
          </p:cNvPicPr>
          <p:nvPr/>
        </p:nvPicPr>
        <p:blipFill>
          <a:blip r:embed="rId3"/>
          <a:srcRect/>
          <a:stretch/>
        </p:blipFill>
        <p:spPr>
          <a:xfrm>
            <a:off x="609600" y="1143000"/>
            <a:ext cx="4699000" cy="4699000"/>
          </a:xfrm>
          <a:prstGeom prst="rect">
            <a:avLst/>
          </a:prstGeom>
        </p:spPr>
      </p:pic>
      <p:sp>
        <p:nvSpPr>
          <p:cNvPr id="3" name="Text 0"/>
          <p:cNvSpPr>
            <a:spLocks noGrp="1"/>
          </p:cNvSpPr>
          <p:nvPr>
            <p:ph type="title"/>
          </p:nvPr>
        </p:nvSpPr>
        <p:spPr>
          <a:xfrm>
            <a:off x="6350000" y="812800"/>
            <a:ext cx="5180076"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Fredoka" pitchFamily="34" charset="0"/>
                <a:ea typeface="Fredoka" pitchFamily="34" charset="-122"/>
                <a:cs typeface="Fredoka" pitchFamily="34" charset="-120"/>
              </a:rPr>
              <a:t>The morning scroll</a:t>
            </a:r>
            <a:endParaRPr lang="en-US" sz="3200" dirty="0"/>
          </a:p>
        </p:txBody>
      </p:sp>
      <p:sp>
        <p:nvSpPr>
          <p:cNvPr id="4" name="Text 1"/>
          <p:cNvSpPr/>
          <p:nvPr/>
        </p:nvSpPr>
        <p:spPr>
          <a:xfrm>
            <a:off x="6350000" y="1435100"/>
            <a:ext cx="51800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Nunito Sans" pitchFamily="34" charset="0"/>
                <a:ea typeface="Nunito Sans" pitchFamily="34" charset="-122"/>
                <a:cs typeface="Nunito Sans" pitchFamily="34" charset="-120"/>
              </a:rPr>
              <a:t>Four feeds. Five spare minutes. Whatever floats to the top.</a:t>
            </a:r>
            <a:endParaRPr lang="en-US" sz="1600" dirty="0"/>
          </a:p>
        </p:txBody>
      </p:sp>
      <p:pic>
        <p:nvPicPr>
          <p:cNvPr id="5" name="Image 1" descr="connector"/>
          <p:cNvPicPr>
            <a:picLocks noChangeAspect="1"/>
          </p:cNvPicPr>
          <p:nvPr/>
        </p:nvPicPr>
        <p:blipFill>
          <a:blip r:embed="rId4"/>
          <a:srcRect/>
          <a:stretch/>
        </p:blipFill>
        <p:spPr>
          <a:xfrm>
            <a:off x="4216400" y="2743200"/>
            <a:ext cx="2184400" cy="101600"/>
          </a:xfrm>
          <a:prstGeom prst="rect">
            <a:avLst/>
          </a:prstGeom>
        </p:spPr>
      </p:pic>
      <p:pic>
        <p:nvPicPr>
          <p:cNvPr id="6" name="Image 2" descr="connector"/>
          <p:cNvPicPr>
            <a:picLocks noChangeAspect="1"/>
          </p:cNvPicPr>
          <p:nvPr/>
        </p:nvPicPr>
        <p:blipFill>
          <a:blip r:embed="rId5"/>
          <a:srcRect/>
          <a:stretch/>
        </p:blipFill>
        <p:spPr>
          <a:xfrm>
            <a:off x="4216400" y="2806700"/>
            <a:ext cx="2184400" cy="800100"/>
          </a:xfrm>
          <a:prstGeom prst="rect">
            <a:avLst/>
          </a:prstGeom>
        </p:spPr>
      </p:pic>
      <p:pic>
        <p:nvPicPr>
          <p:cNvPr id="7" name="Image 3" descr="connector"/>
          <p:cNvPicPr>
            <a:picLocks noChangeAspect="1"/>
          </p:cNvPicPr>
          <p:nvPr/>
        </p:nvPicPr>
        <p:blipFill>
          <a:blip r:embed="rId6"/>
          <a:srcRect/>
          <a:stretch/>
        </p:blipFill>
        <p:spPr>
          <a:xfrm>
            <a:off x="4216400" y="2870200"/>
            <a:ext cx="2184400" cy="1498600"/>
          </a:xfrm>
          <a:prstGeom prst="rect">
            <a:avLst/>
          </a:prstGeom>
        </p:spPr>
      </p:pic>
      <p:pic>
        <p:nvPicPr>
          <p:cNvPr id="8" name="Image 4" descr="connector"/>
          <p:cNvPicPr>
            <a:picLocks noChangeAspect="1"/>
          </p:cNvPicPr>
          <p:nvPr/>
        </p:nvPicPr>
        <p:blipFill>
          <a:blip r:embed="rId7"/>
          <a:srcRect/>
          <a:stretch/>
        </p:blipFill>
        <p:spPr>
          <a:xfrm>
            <a:off x="4216400" y="2933700"/>
            <a:ext cx="2184400" cy="2197100"/>
          </a:xfrm>
          <a:prstGeom prst="rect">
            <a:avLst/>
          </a:prstGeom>
        </p:spPr>
      </p:pic>
      <p:sp>
        <p:nvSpPr>
          <p:cNvPr id="9" name="Shape 2"/>
          <p:cNvSpPr/>
          <p:nvPr/>
        </p:nvSpPr>
        <p:spPr>
          <a:xfrm>
            <a:off x="6359525" y="2498725"/>
            <a:ext cx="3917950" cy="590550"/>
          </a:xfrm>
          <a:prstGeom prst="roundRect">
            <a:avLst>
              <a:gd name="adj" fmla="val 19892"/>
            </a:avLst>
          </a:prstGeom>
          <a:solidFill>
            <a:srgbClr val="FFFFFF"/>
          </a:solidFill>
          <a:ln w="19050">
            <a:solidFill>
              <a:srgbClr val="1F2A44"/>
            </a:solidFill>
            <a:prstDash val="solid"/>
          </a:ln>
        </p:spPr>
        <p:txBody>
          <a:bodyPr/>
          <a:lstStyle/>
          <a:p>
            <a:endParaRPr lang="en-US"/>
          </a:p>
        </p:txBody>
      </p:sp>
      <p:pic>
        <p:nvPicPr>
          <p:cNvPr id="10" name="Image 5" descr="Globe"/>
          <p:cNvPicPr>
            <a:picLocks noChangeAspect="1"/>
          </p:cNvPicPr>
          <p:nvPr/>
        </p:nvPicPr>
        <p:blipFill>
          <a:blip r:embed="rId8"/>
          <a:srcRect/>
          <a:stretch/>
        </p:blipFill>
        <p:spPr>
          <a:xfrm>
            <a:off x="6572250" y="2654300"/>
            <a:ext cx="279400" cy="279400"/>
          </a:xfrm>
          <a:prstGeom prst="rect">
            <a:avLst/>
          </a:prstGeom>
        </p:spPr>
      </p:pic>
      <p:sp>
        <p:nvSpPr>
          <p:cNvPr id="11" name="Text 3"/>
          <p:cNvSpPr/>
          <p:nvPr/>
        </p:nvSpPr>
        <p:spPr>
          <a:xfrm>
            <a:off x="7004050" y="2651770"/>
            <a:ext cx="2488704"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44"/>
                </a:solidFill>
                <a:latin typeface="Nunito Sans" pitchFamily="34" charset="0"/>
                <a:ea typeface="Nunito Sans" pitchFamily="34" charset="-122"/>
                <a:cs typeface="Nunito Sans" pitchFamily="34" charset="-120"/>
              </a:rPr>
              <a:t>X and Bluesky threads</a:t>
            </a:r>
            <a:endParaRPr lang="en-US" sz="1600" dirty="0"/>
          </a:p>
        </p:txBody>
      </p:sp>
      <p:sp>
        <p:nvSpPr>
          <p:cNvPr id="12" name="Shape 4"/>
          <p:cNvSpPr/>
          <p:nvPr/>
        </p:nvSpPr>
        <p:spPr>
          <a:xfrm>
            <a:off x="6359525" y="3260725"/>
            <a:ext cx="3917950" cy="590550"/>
          </a:xfrm>
          <a:prstGeom prst="roundRect">
            <a:avLst>
              <a:gd name="adj" fmla="val 19892"/>
            </a:avLst>
          </a:prstGeom>
          <a:solidFill>
            <a:srgbClr val="FFFFFF"/>
          </a:solidFill>
          <a:ln w="19050">
            <a:solidFill>
              <a:srgbClr val="1F2A44"/>
            </a:solidFill>
            <a:prstDash val="solid"/>
          </a:ln>
        </p:spPr>
        <p:txBody>
          <a:bodyPr/>
          <a:lstStyle/>
          <a:p>
            <a:endParaRPr lang="en-US"/>
          </a:p>
        </p:txBody>
      </p:sp>
      <p:pic>
        <p:nvPicPr>
          <p:cNvPr id="13" name="Image 6" descr="Chat"/>
          <p:cNvPicPr>
            <a:picLocks noChangeAspect="1"/>
          </p:cNvPicPr>
          <p:nvPr/>
        </p:nvPicPr>
        <p:blipFill>
          <a:blip r:embed="rId9"/>
          <a:srcRect/>
          <a:stretch/>
        </p:blipFill>
        <p:spPr>
          <a:xfrm>
            <a:off x="6572250" y="3416300"/>
            <a:ext cx="279400" cy="279400"/>
          </a:xfrm>
          <a:prstGeom prst="rect">
            <a:avLst/>
          </a:prstGeom>
        </p:spPr>
      </p:pic>
      <p:sp>
        <p:nvSpPr>
          <p:cNvPr id="14" name="Text 5"/>
          <p:cNvSpPr/>
          <p:nvPr/>
        </p:nvSpPr>
        <p:spPr>
          <a:xfrm>
            <a:off x="7004050" y="3413770"/>
            <a:ext cx="260282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44"/>
                </a:solidFill>
                <a:latin typeface="Nunito Sans" pitchFamily="34" charset="0"/>
                <a:ea typeface="Nunito Sans" pitchFamily="34" charset="-122"/>
                <a:cs typeface="Nunito Sans" pitchFamily="34" charset="-120"/>
              </a:rPr>
              <a:t>Slack links from the lab</a:t>
            </a:r>
            <a:endParaRPr lang="en-US" sz="1600" dirty="0"/>
          </a:p>
        </p:txBody>
      </p:sp>
      <p:sp>
        <p:nvSpPr>
          <p:cNvPr id="15" name="Shape 6"/>
          <p:cNvSpPr/>
          <p:nvPr/>
        </p:nvSpPr>
        <p:spPr>
          <a:xfrm>
            <a:off x="6359525" y="4022725"/>
            <a:ext cx="3917950" cy="590550"/>
          </a:xfrm>
          <a:prstGeom prst="roundRect">
            <a:avLst>
              <a:gd name="adj" fmla="val 19892"/>
            </a:avLst>
          </a:prstGeom>
          <a:solidFill>
            <a:srgbClr val="FFFFFF"/>
          </a:solidFill>
          <a:ln w="19050">
            <a:solidFill>
              <a:srgbClr val="1F2A44"/>
            </a:solidFill>
            <a:prstDash val="solid"/>
          </a:ln>
        </p:spPr>
        <p:txBody>
          <a:bodyPr/>
          <a:lstStyle/>
          <a:p>
            <a:endParaRPr lang="en-US"/>
          </a:p>
        </p:txBody>
      </p:sp>
      <p:pic>
        <p:nvPicPr>
          <p:cNvPr id="16" name="Image 7" descr="PaperPlane"/>
          <p:cNvPicPr>
            <a:picLocks noChangeAspect="1"/>
          </p:cNvPicPr>
          <p:nvPr/>
        </p:nvPicPr>
        <p:blipFill>
          <a:blip r:embed="rId10"/>
          <a:srcRect/>
          <a:stretch/>
        </p:blipFill>
        <p:spPr>
          <a:xfrm>
            <a:off x="6572250" y="4178300"/>
            <a:ext cx="279400" cy="279400"/>
          </a:xfrm>
          <a:prstGeom prst="rect">
            <a:avLst/>
          </a:prstGeom>
        </p:spPr>
      </p:pic>
      <p:sp>
        <p:nvSpPr>
          <p:cNvPr id="17" name="Text 7"/>
          <p:cNvSpPr/>
          <p:nvPr/>
        </p:nvSpPr>
        <p:spPr>
          <a:xfrm>
            <a:off x="7004050" y="4175770"/>
            <a:ext cx="217146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44"/>
                </a:solidFill>
                <a:latin typeface="Nunito Sans" pitchFamily="34" charset="0"/>
                <a:ea typeface="Nunito Sans" pitchFamily="34" charset="-122"/>
                <a:cs typeface="Nunito Sans" pitchFamily="34" charset="-120"/>
              </a:rPr>
              <a:t>Journal email alerts</a:t>
            </a:r>
            <a:endParaRPr lang="en-US" sz="1600" dirty="0"/>
          </a:p>
        </p:txBody>
      </p:sp>
      <p:sp>
        <p:nvSpPr>
          <p:cNvPr id="18" name="Shape 8"/>
          <p:cNvSpPr/>
          <p:nvPr/>
        </p:nvSpPr>
        <p:spPr>
          <a:xfrm>
            <a:off x="6359525" y="4784725"/>
            <a:ext cx="3917950" cy="590550"/>
          </a:xfrm>
          <a:prstGeom prst="roundRect">
            <a:avLst>
              <a:gd name="adj" fmla="val 19892"/>
            </a:avLst>
          </a:prstGeom>
          <a:solidFill>
            <a:srgbClr val="FFFFFF"/>
          </a:solidFill>
          <a:ln w="19050">
            <a:solidFill>
              <a:srgbClr val="1F2A44"/>
            </a:solidFill>
            <a:prstDash val="solid"/>
          </a:ln>
        </p:spPr>
        <p:txBody>
          <a:bodyPr/>
          <a:lstStyle/>
          <a:p>
            <a:endParaRPr lang="en-US"/>
          </a:p>
        </p:txBody>
      </p:sp>
      <p:pic>
        <p:nvPicPr>
          <p:cNvPr id="19" name="Image 8" descr="Search"/>
          <p:cNvPicPr>
            <a:picLocks noChangeAspect="1"/>
          </p:cNvPicPr>
          <p:nvPr/>
        </p:nvPicPr>
        <p:blipFill>
          <a:blip r:embed="rId11"/>
          <a:srcRect/>
          <a:stretch/>
        </p:blipFill>
        <p:spPr>
          <a:xfrm>
            <a:off x="6572250" y="4940300"/>
            <a:ext cx="279400" cy="279400"/>
          </a:xfrm>
          <a:prstGeom prst="rect">
            <a:avLst/>
          </a:prstGeom>
        </p:spPr>
      </p:pic>
      <p:sp>
        <p:nvSpPr>
          <p:cNvPr id="20" name="Text 9"/>
          <p:cNvSpPr/>
          <p:nvPr/>
        </p:nvSpPr>
        <p:spPr>
          <a:xfrm>
            <a:off x="7004050" y="4937770"/>
            <a:ext cx="233064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44"/>
                </a:solidFill>
                <a:latin typeface="Nunito Sans" pitchFamily="34" charset="0"/>
                <a:ea typeface="Nunito Sans" pitchFamily="34" charset="-122"/>
                <a:cs typeface="Nunito Sans" pitchFamily="34" charset="-120"/>
              </a:rPr>
              <a:t>Google Scholar picks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 toilet paper roll whose sheets are research papers from different feeds"/>
          <p:cNvPicPr>
            <a:picLocks noChangeAspect="1"/>
          </p:cNvPicPr>
          <p:nvPr/>
        </p:nvPicPr>
        <p:blipFill>
          <a:blip r:embed="rId3"/>
          <a:srcRect/>
          <a:stretch/>
        </p:blipFill>
        <p:spPr>
          <a:xfrm>
            <a:off x="1270000" y="698500"/>
            <a:ext cx="3556000" cy="5207000"/>
          </a:xfrm>
          <a:prstGeom prst="rect">
            <a:avLst/>
          </a:prstGeom>
        </p:spPr>
      </p:pic>
      <p:sp>
        <p:nvSpPr>
          <p:cNvPr id="3" name="Text 0"/>
          <p:cNvSpPr/>
          <p:nvPr/>
        </p:nvSpPr>
        <p:spPr>
          <a:xfrm>
            <a:off x="1905000" y="1950194"/>
            <a:ext cx="2485390"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B85A1B"/>
                </a:solidFill>
                <a:latin typeface="Nunito Sans" pitchFamily="34" charset="0"/>
                <a:ea typeface="Nunito Sans" pitchFamily="34" charset="-122"/>
                <a:cs typeface="Nunito Sans" pitchFamily="34" charset="-120"/>
              </a:rPr>
              <a:t>X / BLUESKY</a:t>
            </a:r>
            <a:endParaRPr lang="en-US" sz="1400" b="1" dirty="0"/>
          </a:p>
        </p:txBody>
      </p:sp>
      <p:sp>
        <p:nvSpPr>
          <p:cNvPr id="4" name="Text 1"/>
          <p:cNvSpPr/>
          <p:nvPr/>
        </p:nvSpPr>
        <p:spPr>
          <a:xfrm>
            <a:off x="1905000" y="2201614"/>
            <a:ext cx="248539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A44"/>
                </a:solidFill>
                <a:latin typeface="Nunito Sans" pitchFamily="34" charset="0"/>
                <a:ea typeface="Nunito Sans" pitchFamily="34" charset="-122"/>
                <a:cs typeface="Nunito Sans" pitchFamily="34" charset="-120"/>
              </a:rPr>
              <a:t>A thread with 2k likes</a:t>
            </a:r>
            <a:endParaRPr lang="en-US" sz="1400" dirty="0"/>
          </a:p>
        </p:txBody>
      </p:sp>
      <p:sp>
        <p:nvSpPr>
          <p:cNvPr id="5" name="Text 2"/>
          <p:cNvSpPr/>
          <p:nvPr/>
        </p:nvSpPr>
        <p:spPr>
          <a:xfrm>
            <a:off x="1905000" y="2966194"/>
            <a:ext cx="2485390"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B85A1B"/>
                </a:solidFill>
                <a:latin typeface="Nunito Sans" pitchFamily="34" charset="0"/>
                <a:ea typeface="Nunito Sans" pitchFamily="34" charset="-122"/>
                <a:cs typeface="Nunito Sans" pitchFamily="34" charset="-120"/>
              </a:rPr>
              <a:t>SLACK</a:t>
            </a:r>
            <a:endParaRPr lang="en-US" sz="1400" dirty="0"/>
          </a:p>
        </p:txBody>
      </p:sp>
      <p:sp>
        <p:nvSpPr>
          <p:cNvPr id="6" name="Text 3"/>
          <p:cNvSpPr/>
          <p:nvPr/>
        </p:nvSpPr>
        <p:spPr>
          <a:xfrm>
            <a:off x="1905000" y="3217614"/>
            <a:ext cx="248539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A44"/>
                </a:solidFill>
                <a:latin typeface="Nunito Sans" pitchFamily="34" charset="0"/>
                <a:ea typeface="Nunito Sans" pitchFamily="34" charset="-122"/>
                <a:cs typeface="Nunito Sans" pitchFamily="34" charset="-120"/>
              </a:rPr>
              <a:t>A link dropped in #random</a:t>
            </a:r>
            <a:endParaRPr lang="en-US" sz="1400" dirty="0"/>
          </a:p>
        </p:txBody>
      </p:sp>
      <p:sp>
        <p:nvSpPr>
          <p:cNvPr id="7" name="Text 4"/>
          <p:cNvSpPr/>
          <p:nvPr/>
        </p:nvSpPr>
        <p:spPr>
          <a:xfrm>
            <a:off x="1905000" y="3982194"/>
            <a:ext cx="2485390"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B85A1B"/>
                </a:solidFill>
                <a:latin typeface="Nunito Sans" pitchFamily="34" charset="0"/>
                <a:ea typeface="Nunito Sans" pitchFamily="34" charset="-122"/>
                <a:cs typeface="Nunito Sans" pitchFamily="34" charset="-120"/>
              </a:rPr>
              <a:t>EMAIL ALERT</a:t>
            </a:r>
            <a:endParaRPr lang="en-US" sz="1400" dirty="0"/>
          </a:p>
        </p:txBody>
      </p:sp>
      <p:sp>
        <p:nvSpPr>
          <p:cNvPr id="8" name="Text 5"/>
          <p:cNvSpPr/>
          <p:nvPr/>
        </p:nvSpPr>
        <p:spPr>
          <a:xfrm>
            <a:off x="1905000" y="4233614"/>
            <a:ext cx="248539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A44"/>
                </a:solidFill>
                <a:latin typeface="Nunito Sans" pitchFamily="34" charset="0"/>
                <a:ea typeface="Nunito Sans" pitchFamily="34" charset="-122"/>
                <a:cs typeface="Nunito Sans" pitchFamily="34" charset="-120"/>
              </a:rPr>
              <a:t>Keywords set years ago</a:t>
            </a:r>
            <a:endParaRPr lang="en-US" sz="1400" dirty="0"/>
          </a:p>
        </p:txBody>
      </p:sp>
      <p:sp>
        <p:nvSpPr>
          <p:cNvPr id="9" name="Text 6"/>
          <p:cNvSpPr/>
          <p:nvPr/>
        </p:nvSpPr>
        <p:spPr>
          <a:xfrm>
            <a:off x="1905000" y="4998194"/>
            <a:ext cx="2485390" cy="238720"/>
          </a:xfrm>
          <a:prstGeom prst="rect">
            <a:avLst/>
          </a:prstGeom>
          <a:noFill/>
          <a:ln/>
        </p:spPr>
        <p:txBody>
          <a:bodyPr wrap="square" lIns="0" tIns="0" rIns="0" bIns="0" rtlCol="0" anchor="t">
            <a:normAutofit/>
          </a:bodyPr>
          <a:lstStyle/>
          <a:p>
            <a:pPr marL="0" indent="0" algn="l">
              <a:lnSpc>
                <a:spcPts val="1680"/>
              </a:lnSpc>
              <a:buNone/>
            </a:pPr>
            <a:r>
              <a:rPr lang="en-US" sz="1400" b="1" kern="0" spc="100" dirty="0">
                <a:solidFill>
                  <a:srgbClr val="B85A1B"/>
                </a:solidFill>
                <a:latin typeface="Nunito Sans" pitchFamily="34" charset="0"/>
                <a:ea typeface="Nunito Sans" pitchFamily="34" charset="-122"/>
                <a:cs typeface="Nunito Sans" pitchFamily="34" charset="-120"/>
              </a:rPr>
              <a:t>SCHOLAR</a:t>
            </a:r>
            <a:endParaRPr lang="en-US" sz="1400" dirty="0"/>
          </a:p>
        </p:txBody>
      </p:sp>
      <p:sp>
        <p:nvSpPr>
          <p:cNvPr id="10" name="Text 7"/>
          <p:cNvSpPr/>
          <p:nvPr/>
        </p:nvSpPr>
        <p:spPr>
          <a:xfrm>
            <a:off x="1905000" y="5249614"/>
            <a:ext cx="248539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F2A44"/>
                </a:solidFill>
                <a:latin typeface="Nunito Sans" pitchFamily="34" charset="0"/>
                <a:ea typeface="Nunito Sans" pitchFamily="34" charset="-122"/>
                <a:cs typeface="Nunito Sans" pitchFamily="34" charset="-120"/>
              </a:rPr>
              <a:t>Whoever cited you</a:t>
            </a:r>
            <a:endParaRPr lang="en-US" sz="1400" dirty="0"/>
          </a:p>
        </p:txBody>
      </p:sp>
      <p:sp>
        <p:nvSpPr>
          <p:cNvPr id="11" name="Text 8"/>
          <p:cNvSpPr>
            <a:spLocks noGrp="1"/>
          </p:cNvSpPr>
          <p:nvPr>
            <p:ph type="title"/>
          </p:nvPr>
        </p:nvSpPr>
        <p:spPr>
          <a:xfrm>
            <a:off x="5715000" y="1651000"/>
            <a:ext cx="5834126"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A44"/>
                </a:solidFill>
                <a:latin typeface="Fredoka" pitchFamily="34" charset="0"/>
                <a:ea typeface="Fredoka" pitchFamily="34" charset="-122"/>
                <a:cs typeface="Fredoka" pitchFamily="34" charset="-120"/>
              </a:rPr>
              <a:t>He grabs whatever paper is within reach</a:t>
            </a:r>
            <a:endParaRPr lang="en-US" sz="3600" dirty="0"/>
          </a:p>
        </p:txBody>
      </p:sp>
      <p:sp>
        <p:nvSpPr>
          <p:cNvPr id="12" name="Text 9"/>
          <p:cNvSpPr/>
          <p:nvPr/>
        </p:nvSpPr>
        <p:spPr>
          <a:xfrm>
            <a:off x="5715000" y="2910780"/>
            <a:ext cx="5834126"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A5568"/>
                </a:solidFill>
                <a:latin typeface="Nunito Sans" pitchFamily="34" charset="0"/>
                <a:ea typeface="Nunito Sans" pitchFamily="34" charset="-122"/>
                <a:cs typeface="Nunito Sans" pitchFamily="34" charset="-120"/>
              </a:rPr>
              <a:t>His reading list works like the roll on the wall: you take the next sheet, not the best one.</a:t>
            </a:r>
            <a:endParaRPr lang="en-US" sz="1800" dirty="0"/>
          </a:p>
        </p:txBody>
      </p:sp>
      <p:sp>
        <p:nvSpPr>
          <p:cNvPr id="13" name="Text 10"/>
          <p:cNvSpPr/>
          <p:nvPr/>
        </p:nvSpPr>
        <p:spPr>
          <a:xfrm>
            <a:off x="5715000" y="3804841"/>
            <a:ext cx="583412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B85A1B"/>
                </a:solidFill>
                <a:latin typeface="Fredoka" pitchFamily="34" charset="0"/>
                <a:ea typeface="Fredoka" pitchFamily="34" charset="-122"/>
                <a:cs typeface="Fredoka" pitchFamily="34" charset="-120"/>
              </a:rPr>
              <a:t>Reading by proximity, not relevance.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The person on the toilet looks up from the phone, startled, as new messages arrive"/>
          <p:cNvPicPr>
            <a:picLocks noChangeAspect="1"/>
          </p:cNvPicPr>
          <p:nvPr/>
        </p:nvPicPr>
        <p:blipFill>
          <a:blip r:embed="rId3"/>
          <a:srcRect/>
          <a:stretch/>
        </p:blipFill>
        <p:spPr>
          <a:xfrm>
            <a:off x="609600" y="1143000"/>
            <a:ext cx="4699000" cy="4699000"/>
          </a:xfrm>
          <a:prstGeom prst="rect">
            <a:avLst/>
          </a:prstGeom>
        </p:spPr>
      </p:pic>
      <p:sp>
        <p:nvSpPr>
          <p:cNvPr id="3" name="Text 0"/>
          <p:cNvSpPr>
            <a:spLocks noGrp="1"/>
          </p:cNvSpPr>
          <p:nvPr>
            <p:ph type="title"/>
          </p:nvPr>
        </p:nvSpPr>
        <p:spPr>
          <a:xfrm>
            <a:off x="6350000" y="812800"/>
            <a:ext cx="5180076"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Fredoka" pitchFamily="34" charset="0"/>
                <a:ea typeface="Fredoka" pitchFamily="34" charset="-122"/>
                <a:cs typeface="Fredoka" pitchFamily="34" charset="-120"/>
              </a:rPr>
              <a:t>Then the messages arrive</a:t>
            </a:r>
            <a:endParaRPr lang="en-US" sz="3200" dirty="0"/>
          </a:p>
        </p:txBody>
      </p:sp>
      <p:sp>
        <p:nvSpPr>
          <p:cNvPr id="4" name="Shape 1"/>
          <p:cNvSpPr/>
          <p:nvPr/>
        </p:nvSpPr>
        <p:spPr>
          <a:xfrm>
            <a:off x="6359525" y="1914525"/>
            <a:ext cx="4806950" cy="1233091"/>
          </a:xfrm>
          <a:custGeom>
            <a:avLst/>
            <a:gdLst/>
            <a:ahLst/>
            <a:cxnLst/>
            <a:rect l="l" t="t" r="r" b="b"/>
            <a:pathLst>
              <a:path w="4806950" h="1233091">
                <a:moveTo>
                  <a:pt x="168275" y="0"/>
                </a:moveTo>
                <a:lnTo>
                  <a:pt x="4638675" y="0"/>
                </a:lnTo>
                <a:arcTo wR="168275" hR="168275" stAng="16200000" swAng="5400000"/>
                <a:lnTo>
                  <a:pt x="4806950" y="1064816"/>
                </a:lnTo>
                <a:arcTo wR="168275" hR="168275" stAng="0" swAng="5400000"/>
                <a:lnTo>
                  <a:pt x="41275" y="1233091"/>
                </a:lnTo>
                <a:arcTo wR="41275" hR="41275" stAng="5400000" swAng="5400000"/>
                <a:lnTo>
                  <a:pt x="0" y="168275"/>
                </a:lnTo>
                <a:arcTo wR="168275" hR="168275" stAng="10800000" swAng="5400000"/>
                <a:close/>
              </a:path>
            </a:pathLst>
          </a:custGeom>
          <a:solidFill>
            <a:srgbClr val="FFFFFF"/>
          </a:solidFill>
          <a:ln w="19050">
            <a:solidFill>
              <a:srgbClr val="1F2A44"/>
            </a:solidFill>
            <a:prstDash val="solid"/>
          </a:ln>
        </p:spPr>
        <p:txBody>
          <a:bodyPr/>
          <a:lstStyle/>
          <a:p>
            <a:endParaRPr lang="en-US"/>
          </a:p>
        </p:txBody>
      </p:sp>
      <p:sp>
        <p:nvSpPr>
          <p:cNvPr id="5" name="Text 2"/>
          <p:cNvSpPr/>
          <p:nvPr/>
        </p:nvSpPr>
        <p:spPr>
          <a:xfrm>
            <a:off x="6572250" y="2101850"/>
            <a:ext cx="45129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A1B"/>
                </a:solidFill>
                <a:latin typeface="Nunito Sans" pitchFamily="34" charset="0"/>
                <a:ea typeface="Nunito Sans" pitchFamily="34" charset="-122"/>
                <a:cs typeface="Nunito Sans" pitchFamily="34" charset="-120"/>
              </a:rPr>
              <a:t>LABMATE</a:t>
            </a:r>
            <a:endParaRPr lang="en-US" sz="1200" dirty="0"/>
          </a:p>
        </p:txBody>
      </p:sp>
      <p:sp>
        <p:nvSpPr>
          <p:cNvPr id="6" name="Text 3"/>
          <p:cNvSpPr/>
          <p:nvPr/>
        </p:nvSpPr>
        <p:spPr>
          <a:xfrm>
            <a:off x="6572250" y="2391370"/>
            <a:ext cx="451294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Nunito Sans" pitchFamily="34" charset="0"/>
                <a:ea typeface="Nunito Sans" pitchFamily="34" charset="-122"/>
                <a:cs typeface="Nunito Sans" pitchFamily="34" charset="-120"/>
              </a:rPr>
              <a:t>did you see this preprint?? it’s basically your project</a:t>
            </a:r>
            <a:endParaRPr lang="en-US" sz="1600" dirty="0"/>
          </a:p>
        </p:txBody>
      </p:sp>
      <p:sp>
        <p:nvSpPr>
          <p:cNvPr id="7" name="Shape 4"/>
          <p:cNvSpPr/>
          <p:nvPr/>
        </p:nvSpPr>
        <p:spPr>
          <a:xfrm>
            <a:off x="6359525" y="3319066"/>
            <a:ext cx="4806950" cy="1233091"/>
          </a:xfrm>
          <a:custGeom>
            <a:avLst/>
            <a:gdLst/>
            <a:ahLst/>
            <a:cxnLst/>
            <a:rect l="l" t="t" r="r" b="b"/>
            <a:pathLst>
              <a:path w="4806950" h="1233091">
                <a:moveTo>
                  <a:pt x="168275" y="0"/>
                </a:moveTo>
                <a:lnTo>
                  <a:pt x="4638675" y="0"/>
                </a:lnTo>
                <a:arcTo wR="168275" hR="168275" stAng="16200000" swAng="5400000"/>
                <a:lnTo>
                  <a:pt x="4806950" y="1064816"/>
                </a:lnTo>
                <a:arcTo wR="168275" hR="168275" stAng="0" swAng="5400000"/>
                <a:lnTo>
                  <a:pt x="41275" y="1233091"/>
                </a:lnTo>
                <a:arcTo wR="41275" hR="41275" stAng="5400000" swAng="5400000"/>
                <a:lnTo>
                  <a:pt x="0" y="168275"/>
                </a:lnTo>
                <a:arcTo wR="168275" hR="168275" stAng="10800000" swAng="5400000"/>
                <a:close/>
              </a:path>
            </a:pathLst>
          </a:custGeom>
          <a:solidFill>
            <a:srgbClr val="FFFFFF"/>
          </a:solidFill>
          <a:ln w="19050">
            <a:solidFill>
              <a:srgbClr val="1F2A44"/>
            </a:solidFill>
            <a:prstDash val="solid"/>
          </a:ln>
        </p:spPr>
        <p:txBody>
          <a:bodyPr/>
          <a:lstStyle/>
          <a:p>
            <a:endParaRPr lang="en-US"/>
          </a:p>
        </p:txBody>
      </p:sp>
      <p:sp>
        <p:nvSpPr>
          <p:cNvPr id="8" name="Text 5"/>
          <p:cNvSpPr/>
          <p:nvPr/>
        </p:nvSpPr>
        <p:spPr>
          <a:xfrm>
            <a:off x="6572250" y="3506391"/>
            <a:ext cx="45129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A1B"/>
                </a:solidFill>
                <a:latin typeface="Nunito Sans" pitchFamily="34" charset="0"/>
                <a:ea typeface="Nunito Sans" pitchFamily="34" charset="-122"/>
                <a:cs typeface="Nunito Sans" pitchFamily="34" charset="-120"/>
              </a:rPr>
              <a:t>PI</a:t>
            </a:r>
            <a:endParaRPr lang="en-US" sz="1200" dirty="0"/>
          </a:p>
        </p:txBody>
      </p:sp>
      <p:sp>
        <p:nvSpPr>
          <p:cNvPr id="9" name="Text 6"/>
          <p:cNvSpPr/>
          <p:nvPr/>
        </p:nvSpPr>
        <p:spPr>
          <a:xfrm>
            <a:off x="6572250" y="3795911"/>
            <a:ext cx="451294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Nunito Sans" pitchFamily="34" charset="0"/>
                <a:ea typeface="Nunito Sans" pitchFamily="34" charset="-122"/>
                <a:cs typeface="Nunito Sans" pitchFamily="34" charset="-120"/>
              </a:rPr>
              <a:t>This is very relevant to your thesis. Let’s discuss it on Friday.</a:t>
            </a:r>
            <a:endParaRPr lang="en-US" sz="1600" dirty="0"/>
          </a:p>
        </p:txBody>
      </p:sp>
      <p:sp>
        <p:nvSpPr>
          <p:cNvPr id="10" name="Shape 7"/>
          <p:cNvSpPr/>
          <p:nvPr/>
        </p:nvSpPr>
        <p:spPr>
          <a:xfrm>
            <a:off x="6359525" y="4723606"/>
            <a:ext cx="4806950" cy="948630"/>
          </a:xfrm>
          <a:custGeom>
            <a:avLst/>
            <a:gdLst/>
            <a:ahLst/>
            <a:cxnLst/>
            <a:rect l="l" t="t" r="r" b="b"/>
            <a:pathLst>
              <a:path w="4806950" h="948630">
                <a:moveTo>
                  <a:pt x="168275" y="0"/>
                </a:moveTo>
                <a:lnTo>
                  <a:pt x="4638675" y="0"/>
                </a:lnTo>
                <a:arcTo wR="168275" hR="168275" stAng="16200000" swAng="5400000"/>
                <a:lnTo>
                  <a:pt x="4806950" y="780355"/>
                </a:lnTo>
                <a:arcTo wR="168275" hR="168275" stAng="0" swAng="5400000"/>
                <a:lnTo>
                  <a:pt x="41275" y="948630"/>
                </a:lnTo>
                <a:arcTo wR="41275" hR="41275" stAng="5400000" swAng="5400000"/>
                <a:lnTo>
                  <a:pt x="0" y="168275"/>
                </a:lnTo>
                <a:arcTo wR="168275" hR="168275" stAng="10800000" swAng="5400000"/>
                <a:close/>
              </a:path>
            </a:pathLst>
          </a:custGeom>
          <a:solidFill>
            <a:srgbClr val="FFFFFF"/>
          </a:solidFill>
          <a:ln w="19050">
            <a:solidFill>
              <a:srgbClr val="1F2A44"/>
            </a:solidFill>
            <a:prstDash val="solid"/>
          </a:ln>
        </p:spPr>
        <p:txBody>
          <a:bodyPr/>
          <a:lstStyle/>
          <a:p>
            <a:endParaRPr lang="en-US"/>
          </a:p>
        </p:txBody>
      </p:sp>
      <p:sp>
        <p:nvSpPr>
          <p:cNvPr id="11" name="Text 8"/>
          <p:cNvSpPr/>
          <p:nvPr/>
        </p:nvSpPr>
        <p:spPr>
          <a:xfrm>
            <a:off x="6572250" y="4910931"/>
            <a:ext cx="45129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A1B"/>
                </a:solidFill>
                <a:latin typeface="Nunito Sans" pitchFamily="34" charset="0"/>
                <a:ea typeface="Nunito Sans" pitchFamily="34" charset="-122"/>
                <a:cs typeface="Nunito Sans" pitchFamily="34" charset="-120"/>
              </a:rPr>
              <a:t>FRIEND IN ANOTHER LAB</a:t>
            </a:r>
            <a:endParaRPr lang="en-US" sz="1200" dirty="0"/>
          </a:p>
        </p:txBody>
      </p:sp>
      <p:sp>
        <p:nvSpPr>
          <p:cNvPr id="12" name="Text 9"/>
          <p:cNvSpPr/>
          <p:nvPr/>
        </p:nvSpPr>
        <p:spPr>
          <a:xfrm>
            <a:off x="6572250" y="5200452"/>
            <a:ext cx="451294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Nunito Sans" pitchFamily="34" charset="0"/>
                <a:ea typeface="Nunito Sans" pitchFamily="34" charset="-122"/>
                <a:cs typeface="Nunito Sans" pitchFamily="34" charset="-120"/>
              </a:rPr>
              <a:t>btw it went up three weeks ago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B85A1B"/>
                </a:solidFill>
                <a:latin typeface="Nunito Sans" pitchFamily="34" charset="0"/>
                <a:ea typeface="Nunito Sans" pitchFamily="34" charset="-122"/>
                <a:cs typeface="Nunito Sans" pitchFamily="34" charset="-120"/>
              </a:rPr>
              <a:t>WEEKLY DIGEST AGENT</a:t>
            </a:r>
            <a:endParaRPr lang="en-US" sz="1400" dirty="0"/>
          </a:p>
        </p:txBody>
      </p:sp>
      <p:sp>
        <p:nvSpPr>
          <p:cNvPr id="3" name="Text 1"/>
          <p:cNvSpPr>
            <a:spLocks noGrp="1"/>
          </p:cNvSpPr>
          <p:nvPr>
            <p:ph type="title"/>
          </p:nvPr>
        </p:nvSpPr>
        <p:spPr>
          <a:xfrm>
            <a:off x="812800" y="11886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A44"/>
                </a:solidFill>
                <a:latin typeface="Fredoka" pitchFamily="34" charset="0"/>
                <a:ea typeface="Fredoka" pitchFamily="34" charset="-122"/>
                <a:cs typeface="Fredoka" pitchFamily="34" charset="-120"/>
              </a:rPr>
              <a:t>Meet LitVault</a:t>
            </a:r>
            <a:endParaRPr lang="en-US" sz="3600" dirty="0"/>
          </a:p>
        </p:txBody>
      </p:sp>
      <p:sp>
        <p:nvSpPr>
          <p:cNvPr id="4" name="Shape 2"/>
          <p:cNvSpPr/>
          <p:nvPr/>
        </p:nvSpPr>
        <p:spPr>
          <a:xfrm>
            <a:off x="822325" y="2467025"/>
            <a:ext cx="2470150" cy="2467471"/>
          </a:xfrm>
          <a:prstGeom prst="roundRect">
            <a:avLst>
              <a:gd name="adj" fmla="val 6820"/>
            </a:avLst>
          </a:prstGeom>
          <a:solidFill>
            <a:srgbClr val="FFFFFF"/>
          </a:solidFill>
          <a:ln w="19050">
            <a:solidFill>
              <a:srgbClr val="1F2A44"/>
            </a:solidFill>
            <a:prstDash val="solid"/>
          </a:ln>
        </p:spPr>
        <p:txBody>
          <a:bodyPr/>
          <a:lstStyle/>
          <a:p>
            <a:endParaRPr lang="en-US"/>
          </a:p>
        </p:txBody>
      </p:sp>
      <p:pic>
        <p:nvPicPr>
          <p:cNvPr id="5" name="Image 0" descr="Search"/>
          <p:cNvPicPr>
            <a:picLocks noChangeAspect="1"/>
          </p:cNvPicPr>
          <p:nvPr/>
        </p:nvPicPr>
        <p:blipFill>
          <a:blip r:embed="rId3"/>
          <a:srcRect/>
          <a:stretch/>
        </p:blipFill>
        <p:spPr>
          <a:xfrm>
            <a:off x="1085850" y="2730550"/>
            <a:ext cx="355600" cy="355600"/>
          </a:xfrm>
          <a:prstGeom prst="rect">
            <a:avLst/>
          </a:prstGeom>
        </p:spPr>
      </p:pic>
      <p:sp>
        <p:nvSpPr>
          <p:cNvPr id="6" name="Text 3"/>
          <p:cNvSpPr/>
          <p:nvPr/>
        </p:nvSpPr>
        <p:spPr>
          <a:xfrm>
            <a:off x="1085850" y="3213150"/>
            <a:ext cx="200139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A44"/>
                </a:solidFill>
                <a:latin typeface="Fredoka" pitchFamily="34" charset="0"/>
                <a:ea typeface="Fredoka" pitchFamily="34" charset="-122"/>
                <a:cs typeface="Fredoka" pitchFamily="34" charset="-120"/>
              </a:rPr>
              <a:t>1. Screen</a:t>
            </a:r>
            <a:endParaRPr lang="en-US" sz="2200" dirty="0"/>
          </a:p>
        </p:txBody>
      </p:sp>
      <p:sp>
        <p:nvSpPr>
          <p:cNvPr id="7" name="Text 4"/>
          <p:cNvSpPr/>
          <p:nvPr/>
        </p:nvSpPr>
        <p:spPr>
          <a:xfrm>
            <a:off x="1085850" y="3675410"/>
            <a:ext cx="200139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Every bioRxiv, medRxiv and ChemRxiv abstract from the past 7 days</a:t>
            </a:r>
            <a:endParaRPr lang="en-US" sz="1400" dirty="0"/>
          </a:p>
        </p:txBody>
      </p:sp>
      <p:sp>
        <p:nvSpPr>
          <p:cNvPr id="8" name="Shape 5"/>
          <p:cNvSpPr/>
          <p:nvPr/>
        </p:nvSpPr>
        <p:spPr>
          <a:xfrm>
            <a:off x="3514725" y="2467025"/>
            <a:ext cx="2470150" cy="2467471"/>
          </a:xfrm>
          <a:prstGeom prst="roundRect">
            <a:avLst>
              <a:gd name="adj" fmla="val 6820"/>
            </a:avLst>
          </a:prstGeom>
          <a:solidFill>
            <a:srgbClr val="FFFFFF"/>
          </a:solidFill>
          <a:ln w="19050">
            <a:solidFill>
              <a:srgbClr val="1F2A44"/>
            </a:solidFill>
            <a:prstDash val="solid"/>
          </a:ln>
        </p:spPr>
        <p:txBody>
          <a:bodyPr/>
          <a:lstStyle/>
          <a:p>
            <a:endParaRPr lang="en-US"/>
          </a:p>
        </p:txBody>
      </p:sp>
      <p:pic>
        <p:nvPicPr>
          <p:cNvPr id="9" name="Image 1" descr="Star"/>
          <p:cNvPicPr>
            <a:picLocks noChangeAspect="1"/>
          </p:cNvPicPr>
          <p:nvPr/>
        </p:nvPicPr>
        <p:blipFill>
          <a:blip r:embed="rId4"/>
          <a:srcRect/>
          <a:stretch/>
        </p:blipFill>
        <p:spPr>
          <a:xfrm>
            <a:off x="3778250" y="2730550"/>
            <a:ext cx="355600" cy="355600"/>
          </a:xfrm>
          <a:prstGeom prst="rect">
            <a:avLst/>
          </a:prstGeom>
        </p:spPr>
      </p:pic>
      <p:sp>
        <p:nvSpPr>
          <p:cNvPr id="10" name="Text 6"/>
          <p:cNvSpPr/>
          <p:nvPr/>
        </p:nvSpPr>
        <p:spPr>
          <a:xfrm>
            <a:off x="3778250" y="3213150"/>
            <a:ext cx="200139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A44"/>
                </a:solidFill>
                <a:latin typeface="Fredoka" pitchFamily="34" charset="0"/>
                <a:ea typeface="Fredoka" pitchFamily="34" charset="-122"/>
                <a:cs typeface="Fredoka" pitchFamily="34" charset="-120"/>
              </a:rPr>
              <a:t>2. Score</a:t>
            </a:r>
            <a:endParaRPr lang="en-US" sz="2200" dirty="0"/>
          </a:p>
        </p:txBody>
      </p:sp>
      <p:sp>
        <p:nvSpPr>
          <p:cNvPr id="11" name="Text 7"/>
          <p:cNvSpPr/>
          <p:nvPr/>
        </p:nvSpPr>
        <p:spPr>
          <a:xfrm>
            <a:off x="3778250" y="3675410"/>
            <a:ext cx="200139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Claude rates each one 0–100 for relevance to your topic</a:t>
            </a:r>
            <a:endParaRPr lang="en-US" sz="1400" dirty="0"/>
          </a:p>
        </p:txBody>
      </p:sp>
      <p:sp>
        <p:nvSpPr>
          <p:cNvPr id="12" name="Shape 8"/>
          <p:cNvSpPr/>
          <p:nvPr/>
        </p:nvSpPr>
        <p:spPr>
          <a:xfrm>
            <a:off x="6207125" y="2467025"/>
            <a:ext cx="2470150" cy="2467471"/>
          </a:xfrm>
          <a:prstGeom prst="roundRect">
            <a:avLst>
              <a:gd name="adj" fmla="val 6820"/>
            </a:avLst>
          </a:prstGeom>
          <a:solidFill>
            <a:srgbClr val="FFFFFF"/>
          </a:solidFill>
          <a:ln w="19050">
            <a:solidFill>
              <a:srgbClr val="1F2A44"/>
            </a:solidFill>
            <a:prstDash val="solid"/>
          </a:ln>
        </p:spPr>
        <p:txBody>
          <a:bodyPr/>
          <a:lstStyle/>
          <a:p>
            <a:endParaRPr lang="en-US"/>
          </a:p>
        </p:txBody>
      </p:sp>
      <p:pic>
        <p:nvPicPr>
          <p:cNvPr id="13" name="Image 2" descr="Chart"/>
          <p:cNvPicPr>
            <a:picLocks noChangeAspect="1"/>
          </p:cNvPicPr>
          <p:nvPr/>
        </p:nvPicPr>
        <p:blipFill>
          <a:blip r:embed="rId5"/>
          <a:srcRect/>
          <a:stretch/>
        </p:blipFill>
        <p:spPr>
          <a:xfrm>
            <a:off x="6470650" y="2730550"/>
            <a:ext cx="355600" cy="355600"/>
          </a:xfrm>
          <a:prstGeom prst="rect">
            <a:avLst/>
          </a:prstGeom>
        </p:spPr>
      </p:pic>
      <p:sp>
        <p:nvSpPr>
          <p:cNvPr id="14" name="Text 9"/>
          <p:cNvSpPr/>
          <p:nvPr/>
        </p:nvSpPr>
        <p:spPr>
          <a:xfrm>
            <a:off x="6470650" y="3213150"/>
            <a:ext cx="200139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A44"/>
                </a:solidFill>
                <a:latin typeface="Fredoka" pitchFamily="34" charset="0"/>
                <a:ea typeface="Fredoka" pitchFamily="34" charset="-122"/>
                <a:cs typeface="Fredoka" pitchFamily="34" charset="-120"/>
              </a:rPr>
              <a:t>3. Sort</a:t>
            </a:r>
            <a:endParaRPr lang="en-US" sz="2200" dirty="0"/>
          </a:p>
        </p:txBody>
      </p:sp>
      <p:sp>
        <p:nvSpPr>
          <p:cNvPr id="15" name="Text 10"/>
          <p:cNvSpPr/>
          <p:nvPr/>
        </p:nvSpPr>
        <p:spPr>
          <a:xfrm>
            <a:off x="6470650" y="3675410"/>
            <a:ext cx="20013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Papers land in High, Check and Low groups</a:t>
            </a:r>
            <a:endParaRPr lang="en-US" sz="1400" dirty="0"/>
          </a:p>
        </p:txBody>
      </p:sp>
      <p:sp>
        <p:nvSpPr>
          <p:cNvPr id="16" name="Shape 11"/>
          <p:cNvSpPr/>
          <p:nvPr/>
        </p:nvSpPr>
        <p:spPr>
          <a:xfrm>
            <a:off x="8899525" y="2467025"/>
            <a:ext cx="2470150" cy="2467471"/>
          </a:xfrm>
          <a:prstGeom prst="roundRect">
            <a:avLst>
              <a:gd name="adj" fmla="val 6820"/>
            </a:avLst>
          </a:prstGeom>
          <a:solidFill>
            <a:srgbClr val="FFFFFF"/>
          </a:solidFill>
          <a:ln w="19050">
            <a:solidFill>
              <a:srgbClr val="1F2A44"/>
            </a:solidFill>
            <a:prstDash val="solid"/>
          </a:ln>
        </p:spPr>
        <p:txBody>
          <a:bodyPr/>
          <a:lstStyle/>
          <a:p>
            <a:endParaRPr lang="en-US"/>
          </a:p>
        </p:txBody>
      </p:sp>
      <p:pic>
        <p:nvPicPr>
          <p:cNvPr id="17" name="Image 3" descr="Book"/>
          <p:cNvPicPr>
            <a:picLocks noChangeAspect="1"/>
          </p:cNvPicPr>
          <p:nvPr/>
        </p:nvPicPr>
        <p:blipFill>
          <a:blip r:embed="rId6"/>
          <a:srcRect/>
          <a:stretch/>
        </p:blipFill>
        <p:spPr>
          <a:xfrm>
            <a:off x="9163050" y="2730550"/>
            <a:ext cx="355600" cy="355600"/>
          </a:xfrm>
          <a:prstGeom prst="rect">
            <a:avLst/>
          </a:prstGeom>
        </p:spPr>
      </p:pic>
      <p:sp>
        <p:nvSpPr>
          <p:cNvPr id="18" name="Text 12"/>
          <p:cNvSpPr/>
          <p:nvPr/>
        </p:nvSpPr>
        <p:spPr>
          <a:xfrm>
            <a:off x="9163050" y="3213150"/>
            <a:ext cx="200139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A44"/>
                </a:solidFill>
                <a:latin typeface="Fredoka" pitchFamily="34" charset="0"/>
                <a:ea typeface="Fredoka" pitchFamily="34" charset="-122"/>
                <a:cs typeface="Fredoka" pitchFamily="34" charset="-120"/>
              </a:rPr>
              <a:t>4. Vault</a:t>
            </a:r>
            <a:endParaRPr lang="en-US" sz="2200" dirty="0"/>
          </a:p>
        </p:txBody>
      </p:sp>
      <p:sp>
        <p:nvSpPr>
          <p:cNvPr id="19" name="Text 13"/>
          <p:cNvSpPr/>
          <p:nvPr/>
        </p:nvSpPr>
        <p:spPr>
          <a:xfrm>
            <a:off x="9163050" y="3675410"/>
            <a:ext cx="2001393"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Drag cards into Must read, Methods or Discard, then download the PDFs</a:t>
            </a:r>
            <a:endParaRPr lang="en-US" sz="1400" dirty="0"/>
          </a:p>
        </p:txBody>
      </p:sp>
      <p:sp>
        <p:nvSpPr>
          <p:cNvPr id="20" name="Text 14"/>
          <p:cNvSpPr/>
          <p:nvPr/>
        </p:nvSpPr>
        <p:spPr>
          <a:xfrm>
            <a:off x="812800" y="570994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B85A1B"/>
                </a:solidFill>
                <a:latin typeface="Fredoka" pitchFamily="34" charset="0"/>
                <a:ea typeface="Fredoka" pitchFamily="34" charset="-122"/>
                <a:cs typeface="Fredoka" pitchFamily="34" charset="-120"/>
              </a:rPr>
              <a:t>Fewer “did you see this?” messages.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BF7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7112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Fredoka" pitchFamily="34" charset="0"/>
                <a:ea typeface="Fredoka" pitchFamily="34" charset="-122"/>
                <a:cs typeface="Fredoka" pitchFamily="34" charset="-120"/>
              </a:rPr>
              <a:t>What’s more?</a:t>
            </a:r>
            <a:endParaRPr lang="en-US" sz="3200" dirty="0"/>
          </a:p>
        </p:txBody>
      </p:sp>
      <p:sp>
        <p:nvSpPr>
          <p:cNvPr id="3" name="Text 1"/>
          <p:cNvSpPr/>
          <p:nvPr/>
        </p:nvSpPr>
        <p:spPr>
          <a:xfrm>
            <a:off x="812800" y="12700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Nunito Sans" pitchFamily="34" charset="0"/>
                <a:ea typeface="Nunito Sans" pitchFamily="34" charset="-122"/>
                <a:cs typeface="Nunito Sans" pitchFamily="34" charset="-120"/>
              </a:rPr>
              <a:t>LitVault decides what to read. The Extraction Agent turns what you kept into database rows.</a:t>
            </a:r>
            <a:endParaRPr lang="en-US" sz="1400" dirty="0"/>
          </a:p>
        </p:txBody>
      </p:sp>
      <p:sp>
        <p:nvSpPr>
          <p:cNvPr id="4" name="Text 2"/>
          <p:cNvSpPr/>
          <p:nvPr/>
        </p:nvSpPr>
        <p:spPr>
          <a:xfrm>
            <a:off x="2597150" y="1822450"/>
            <a:ext cx="2590800" cy="378420"/>
          </a:xfrm>
          <a:prstGeom prst="roundRect">
            <a:avLst>
              <a:gd name="adj" fmla="val 21814"/>
            </a:avLst>
          </a:prstGeom>
          <a:solidFill>
            <a:srgbClr val="F1E9DA"/>
          </a:solidFill>
          <a:ln w="12700">
            <a:solidFill>
              <a:srgbClr val="B85A1B"/>
            </a:solidFill>
            <a:prstDash val="dash"/>
          </a:ln>
        </p:spPr>
        <p:txBody>
          <a:bodyPr wrap="square" lIns="21986" tIns="58372" rIns="21986" bIns="32972"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Research profile (.md)</a:t>
            </a:r>
            <a:endParaRPr lang="en-US" sz="1200" dirty="0"/>
          </a:p>
        </p:txBody>
      </p:sp>
      <p:sp>
        <p:nvSpPr>
          <p:cNvPr id="5" name="Text 3"/>
          <p:cNvSpPr/>
          <p:nvPr/>
        </p:nvSpPr>
        <p:spPr>
          <a:xfrm>
            <a:off x="6089650" y="1822450"/>
            <a:ext cx="2781300" cy="378420"/>
          </a:xfrm>
          <a:prstGeom prst="roundRect">
            <a:avLst>
              <a:gd name="adj" fmla="val 21814"/>
            </a:avLst>
          </a:prstGeom>
          <a:solidFill>
            <a:srgbClr val="F1E9DA"/>
          </a:solidFill>
          <a:ln w="12700">
            <a:solidFill>
              <a:srgbClr val="3B82C4"/>
            </a:solidFill>
            <a:prstDash val="dash"/>
          </a:ln>
        </p:spPr>
        <p:txBody>
          <a:bodyPr wrap="square" lIns="19129" tIns="58372" rIns="19129" bIns="32972"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fields.yaml: what to extract</a:t>
            </a:r>
            <a:endParaRPr lang="en-US" sz="1200" dirty="0"/>
          </a:p>
        </p:txBody>
      </p:sp>
      <p:pic>
        <p:nvPicPr>
          <p:cNvPr id="6" name="Image 0" descr="connector"/>
          <p:cNvPicPr>
            <a:picLocks noChangeAspect="1"/>
          </p:cNvPicPr>
          <p:nvPr/>
        </p:nvPicPr>
        <p:blipFill>
          <a:blip r:embed="rId3"/>
          <a:srcRect/>
          <a:stretch/>
        </p:blipFill>
        <p:spPr>
          <a:xfrm>
            <a:off x="3841750" y="2146300"/>
            <a:ext cx="101600" cy="304800"/>
          </a:xfrm>
          <a:prstGeom prst="rect">
            <a:avLst/>
          </a:prstGeom>
        </p:spPr>
      </p:pic>
      <p:pic>
        <p:nvPicPr>
          <p:cNvPr id="7" name="Image 1" descr="connector"/>
          <p:cNvPicPr>
            <a:picLocks noChangeAspect="1"/>
          </p:cNvPicPr>
          <p:nvPr/>
        </p:nvPicPr>
        <p:blipFill>
          <a:blip r:embed="rId4"/>
          <a:srcRect/>
          <a:stretch/>
        </p:blipFill>
        <p:spPr>
          <a:xfrm>
            <a:off x="7429500" y="2146300"/>
            <a:ext cx="101600" cy="304800"/>
          </a:xfrm>
          <a:prstGeom prst="rect">
            <a:avLst/>
          </a:prstGeom>
        </p:spPr>
      </p:pic>
      <p:sp>
        <p:nvSpPr>
          <p:cNvPr id="8" name="Text 4"/>
          <p:cNvSpPr/>
          <p:nvPr/>
        </p:nvSpPr>
        <p:spPr>
          <a:xfrm>
            <a:off x="812800" y="2984500"/>
            <a:ext cx="1447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A1B"/>
                </a:solidFill>
                <a:latin typeface="Nunito Sans" pitchFamily="34" charset="0"/>
                <a:ea typeface="Nunito Sans" pitchFamily="34" charset="-122"/>
                <a:cs typeface="Nunito Sans" pitchFamily="34" charset="-120"/>
              </a:rPr>
              <a:t>SOURCES</a:t>
            </a:r>
            <a:endParaRPr lang="en-US" sz="1200" dirty="0"/>
          </a:p>
        </p:txBody>
      </p:sp>
      <p:sp>
        <p:nvSpPr>
          <p:cNvPr id="9" name="Text 5"/>
          <p:cNvSpPr/>
          <p:nvPr/>
        </p:nvSpPr>
        <p:spPr>
          <a:xfrm>
            <a:off x="819150" y="3295650"/>
            <a:ext cx="1384300" cy="403820"/>
          </a:xfrm>
          <a:custGeom>
            <a:avLst/>
            <a:gdLst/>
            <a:ahLst/>
            <a:cxnLst/>
            <a:rect l="l" t="t" r="r" b="b"/>
            <a:pathLst>
              <a:path w="1384300" h="403820">
                <a:moveTo>
                  <a:pt x="196850" y="0"/>
                </a:moveTo>
                <a:lnTo>
                  <a:pt x="1187450" y="0"/>
                </a:lnTo>
                <a:arcTo wR="196850" hR="196850" stAng="16200000" swAng="5400000"/>
                <a:lnTo>
                  <a:pt x="1384300" y="206970"/>
                </a:lnTo>
                <a:arcTo wR="196850" hR="196850" stAng="0" swAng="5400000"/>
                <a:lnTo>
                  <a:pt x="196850" y="403820"/>
                </a:lnTo>
                <a:arcTo wR="196850" hR="196850" stAng="5400000" swAng="5400000"/>
                <a:lnTo>
                  <a:pt x="0" y="196850"/>
                </a:lnTo>
                <a:arcTo wR="196850" hR="196850" stAng="10800000" swAng="5400000"/>
                <a:close/>
              </a:path>
            </a:pathLst>
          </a:custGeom>
          <a:solidFill>
            <a:srgbClr val="FFFFFF"/>
          </a:solidFill>
          <a:ln w="12700">
            <a:solidFill>
              <a:srgbClr val="1F2A44"/>
            </a:solidFill>
            <a:prstDash val="solid"/>
          </a:ln>
        </p:spPr>
        <p:txBody>
          <a:bodyPr wrap="square" lIns="69850" tIns="95250" rIns="69850" bIns="69850"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bioRxiv</a:t>
            </a:r>
            <a:endParaRPr lang="en-US" sz="1200" dirty="0"/>
          </a:p>
        </p:txBody>
      </p:sp>
      <p:sp>
        <p:nvSpPr>
          <p:cNvPr id="10" name="Text 6"/>
          <p:cNvSpPr/>
          <p:nvPr/>
        </p:nvSpPr>
        <p:spPr>
          <a:xfrm>
            <a:off x="819150" y="3803650"/>
            <a:ext cx="1384300" cy="403820"/>
          </a:xfrm>
          <a:custGeom>
            <a:avLst/>
            <a:gdLst/>
            <a:ahLst/>
            <a:cxnLst/>
            <a:rect l="l" t="t" r="r" b="b"/>
            <a:pathLst>
              <a:path w="1384300" h="403820">
                <a:moveTo>
                  <a:pt x="196850" y="0"/>
                </a:moveTo>
                <a:lnTo>
                  <a:pt x="1187450" y="0"/>
                </a:lnTo>
                <a:arcTo wR="196850" hR="196850" stAng="16200000" swAng="5400000"/>
                <a:lnTo>
                  <a:pt x="1384300" y="206970"/>
                </a:lnTo>
                <a:arcTo wR="196850" hR="196850" stAng="0" swAng="5400000"/>
                <a:lnTo>
                  <a:pt x="196850" y="403820"/>
                </a:lnTo>
                <a:arcTo wR="196850" hR="196850" stAng="5400000" swAng="5400000"/>
                <a:lnTo>
                  <a:pt x="0" y="196850"/>
                </a:lnTo>
                <a:arcTo wR="196850" hR="196850" stAng="10800000" swAng="5400000"/>
                <a:close/>
              </a:path>
            </a:pathLst>
          </a:custGeom>
          <a:solidFill>
            <a:srgbClr val="FFFFFF"/>
          </a:solidFill>
          <a:ln w="12700">
            <a:solidFill>
              <a:srgbClr val="1F2A44"/>
            </a:solidFill>
            <a:prstDash val="solid"/>
          </a:ln>
        </p:spPr>
        <p:txBody>
          <a:bodyPr wrap="square" lIns="69850" tIns="95250" rIns="69850" bIns="69850"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medRxiv</a:t>
            </a:r>
            <a:endParaRPr lang="en-US" sz="1200" dirty="0"/>
          </a:p>
        </p:txBody>
      </p:sp>
      <p:sp>
        <p:nvSpPr>
          <p:cNvPr id="11" name="Text 7"/>
          <p:cNvSpPr/>
          <p:nvPr/>
        </p:nvSpPr>
        <p:spPr>
          <a:xfrm>
            <a:off x="819150" y="4311650"/>
            <a:ext cx="1384300" cy="403820"/>
          </a:xfrm>
          <a:custGeom>
            <a:avLst/>
            <a:gdLst/>
            <a:ahLst/>
            <a:cxnLst/>
            <a:rect l="l" t="t" r="r" b="b"/>
            <a:pathLst>
              <a:path w="1384300" h="403820">
                <a:moveTo>
                  <a:pt x="196850" y="0"/>
                </a:moveTo>
                <a:lnTo>
                  <a:pt x="1187450" y="0"/>
                </a:lnTo>
                <a:arcTo wR="196850" hR="196850" stAng="16200000" swAng="5400000"/>
                <a:lnTo>
                  <a:pt x="1384300" y="206970"/>
                </a:lnTo>
                <a:arcTo wR="196850" hR="196850" stAng="0" swAng="5400000"/>
                <a:lnTo>
                  <a:pt x="196850" y="403820"/>
                </a:lnTo>
                <a:arcTo wR="196850" hR="196850" stAng="5400000" swAng="5400000"/>
                <a:lnTo>
                  <a:pt x="0" y="196850"/>
                </a:lnTo>
                <a:arcTo wR="196850" hR="196850" stAng="10800000" swAng="5400000"/>
                <a:close/>
              </a:path>
            </a:pathLst>
          </a:custGeom>
          <a:solidFill>
            <a:srgbClr val="FFFFFF"/>
          </a:solidFill>
          <a:ln w="12700">
            <a:solidFill>
              <a:srgbClr val="1F2A44"/>
            </a:solidFill>
            <a:prstDash val="solid"/>
          </a:ln>
        </p:spPr>
        <p:txBody>
          <a:bodyPr wrap="square" lIns="69850" tIns="95250" rIns="69850" bIns="69850" rtlCol="0" anchor="t">
            <a:normAutofit/>
          </a:bodyPr>
          <a:lstStyle/>
          <a:p>
            <a:pPr marL="0" indent="0" algn="ctr">
              <a:lnSpc>
                <a:spcPts val="1680"/>
              </a:lnSpc>
              <a:buNone/>
            </a:pPr>
            <a:r>
              <a:rPr lang="en-US" sz="1200" b="1" dirty="0">
                <a:solidFill>
                  <a:srgbClr val="1F2A44"/>
                </a:solidFill>
                <a:latin typeface="Nunito Sans" pitchFamily="34" charset="0"/>
                <a:ea typeface="Nunito Sans" pitchFamily="34" charset="-122"/>
                <a:cs typeface="Nunito Sans" pitchFamily="34" charset="-120"/>
              </a:rPr>
              <a:t>ChemRxiv</a:t>
            </a:r>
            <a:endParaRPr lang="en-US" sz="1200" dirty="0"/>
          </a:p>
        </p:txBody>
      </p:sp>
      <p:pic>
        <p:nvPicPr>
          <p:cNvPr id="12" name="Image 2" descr="connector"/>
          <p:cNvPicPr>
            <a:picLocks noChangeAspect="1"/>
          </p:cNvPicPr>
          <p:nvPr/>
        </p:nvPicPr>
        <p:blipFill>
          <a:blip r:embed="rId5"/>
          <a:srcRect/>
          <a:stretch/>
        </p:blipFill>
        <p:spPr>
          <a:xfrm>
            <a:off x="2171700" y="3441700"/>
            <a:ext cx="444500" cy="546100"/>
          </a:xfrm>
          <a:prstGeom prst="rect">
            <a:avLst/>
          </a:prstGeom>
        </p:spPr>
      </p:pic>
      <p:pic>
        <p:nvPicPr>
          <p:cNvPr id="13" name="Image 3" descr="connector"/>
          <p:cNvPicPr>
            <a:picLocks noChangeAspect="1"/>
          </p:cNvPicPr>
          <p:nvPr/>
        </p:nvPicPr>
        <p:blipFill>
          <a:blip r:embed="rId6"/>
          <a:srcRect/>
          <a:stretch/>
        </p:blipFill>
        <p:spPr>
          <a:xfrm>
            <a:off x="2171700" y="3949700"/>
            <a:ext cx="444500" cy="101600"/>
          </a:xfrm>
          <a:prstGeom prst="rect">
            <a:avLst/>
          </a:prstGeom>
        </p:spPr>
      </p:pic>
      <p:pic>
        <p:nvPicPr>
          <p:cNvPr id="14" name="Image 4" descr="connector"/>
          <p:cNvPicPr>
            <a:picLocks noChangeAspect="1"/>
          </p:cNvPicPr>
          <p:nvPr/>
        </p:nvPicPr>
        <p:blipFill>
          <a:blip r:embed="rId7"/>
          <a:srcRect/>
          <a:stretch/>
        </p:blipFill>
        <p:spPr>
          <a:xfrm>
            <a:off x="2171700" y="4013200"/>
            <a:ext cx="444500" cy="546100"/>
          </a:xfrm>
          <a:prstGeom prst="rect">
            <a:avLst/>
          </a:prstGeom>
        </p:spPr>
      </p:pic>
      <p:sp>
        <p:nvSpPr>
          <p:cNvPr id="15" name="Shape 8"/>
          <p:cNvSpPr/>
          <p:nvPr/>
        </p:nvSpPr>
        <p:spPr>
          <a:xfrm>
            <a:off x="2603500" y="2425700"/>
            <a:ext cx="2578100" cy="3149600"/>
          </a:xfrm>
          <a:prstGeom prst="roundRect">
            <a:avLst>
              <a:gd name="adj" fmla="val 6404"/>
            </a:avLst>
          </a:prstGeom>
          <a:solidFill>
            <a:srgbClr val="FFFFFF"/>
          </a:solidFill>
          <a:ln w="25400">
            <a:solidFill>
              <a:srgbClr val="E8833A"/>
            </a:solidFill>
            <a:prstDash val="solid"/>
          </a:ln>
        </p:spPr>
        <p:txBody>
          <a:bodyPr/>
          <a:lstStyle/>
          <a:p>
            <a:endParaRPr lang="en-US"/>
          </a:p>
        </p:txBody>
      </p:sp>
      <p:sp>
        <p:nvSpPr>
          <p:cNvPr id="16" name="Text 9"/>
          <p:cNvSpPr/>
          <p:nvPr/>
        </p:nvSpPr>
        <p:spPr>
          <a:xfrm>
            <a:off x="2819400" y="2641600"/>
            <a:ext cx="221068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A1B"/>
                </a:solidFill>
                <a:latin typeface="Nunito Sans" pitchFamily="34" charset="0"/>
                <a:ea typeface="Nunito Sans" pitchFamily="34" charset="-122"/>
                <a:cs typeface="Nunito Sans" pitchFamily="34" charset="-120"/>
              </a:rPr>
              <a:t>STAGE 1 · FILTER</a:t>
            </a:r>
            <a:endParaRPr lang="en-US" sz="1200" dirty="0"/>
          </a:p>
        </p:txBody>
      </p:sp>
      <p:sp>
        <p:nvSpPr>
          <p:cNvPr id="17" name="Text 10"/>
          <p:cNvSpPr/>
          <p:nvPr/>
        </p:nvSpPr>
        <p:spPr>
          <a:xfrm>
            <a:off x="2819400" y="2943820"/>
            <a:ext cx="22106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44"/>
                </a:solidFill>
                <a:latin typeface="Fredoka" pitchFamily="34" charset="0"/>
                <a:ea typeface="Fredoka" pitchFamily="34" charset="-122"/>
                <a:cs typeface="Fredoka" pitchFamily="34" charset="-120"/>
              </a:rPr>
              <a:t>LitVault</a:t>
            </a:r>
            <a:endParaRPr lang="en-US" sz="2000" dirty="0"/>
          </a:p>
        </p:txBody>
      </p:sp>
      <p:sp>
        <p:nvSpPr>
          <p:cNvPr id="18" name="Text 11"/>
          <p:cNvSpPr/>
          <p:nvPr/>
        </p:nvSpPr>
        <p:spPr>
          <a:xfrm>
            <a:off x="2819400" y="3337520"/>
            <a:ext cx="2146300" cy="350490"/>
          </a:xfrm>
          <a:prstGeom prst="roundRect">
            <a:avLst>
              <a:gd name="adj" fmla="val 21741"/>
            </a:avLst>
          </a:prstGeom>
          <a:solidFill>
            <a:srgbClr val="FBF7EF"/>
          </a:solidFill>
          <a:ln/>
        </p:spPr>
        <p:txBody>
          <a:bodyPr wrap="square" lIns="79282" tIns="53882" rIns="20989"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Fetch new abstracts</a:t>
            </a:r>
            <a:endParaRPr lang="en-US" sz="1200" dirty="0"/>
          </a:p>
        </p:txBody>
      </p:sp>
      <p:sp>
        <p:nvSpPr>
          <p:cNvPr id="19" name="Text 12"/>
          <p:cNvSpPr/>
          <p:nvPr/>
        </p:nvSpPr>
        <p:spPr>
          <a:xfrm>
            <a:off x="2819400" y="3776911"/>
            <a:ext cx="2146300" cy="350490"/>
          </a:xfrm>
          <a:prstGeom prst="roundRect">
            <a:avLst>
              <a:gd name="adj" fmla="val 21741"/>
            </a:avLst>
          </a:prstGeom>
          <a:solidFill>
            <a:srgbClr val="FBF7EF"/>
          </a:solidFill>
          <a:ln/>
        </p:spPr>
        <p:txBody>
          <a:bodyPr wrap="square" lIns="79282" tIns="53882" rIns="20989"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Keyword screen</a:t>
            </a:r>
            <a:endParaRPr lang="en-US" sz="1200" dirty="0"/>
          </a:p>
        </p:txBody>
      </p:sp>
      <p:sp>
        <p:nvSpPr>
          <p:cNvPr id="20" name="Text 13"/>
          <p:cNvSpPr/>
          <p:nvPr/>
        </p:nvSpPr>
        <p:spPr>
          <a:xfrm>
            <a:off x="2819400" y="4216301"/>
            <a:ext cx="2146300" cy="350490"/>
          </a:xfrm>
          <a:prstGeom prst="roundRect">
            <a:avLst>
              <a:gd name="adj" fmla="val 21741"/>
            </a:avLst>
          </a:prstGeom>
          <a:solidFill>
            <a:srgbClr val="FBF7EF"/>
          </a:solidFill>
          <a:ln/>
        </p:spPr>
        <p:txBody>
          <a:bodyPr wrap="square" lIns="79282" tIns="53882" rIns="20989"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Claude scores 0–100</a:t>
            </a:r>
            <a:endParaRPr lang="en-US" sz="1200" dirty="0"/>
          </a:p>
        </p:txBody>
      </p:sp>
      <p:sp>
        <p:nvSpPr>
          <p:cNvPr id="21" name="Text 14"/>
          <p:cNvSpPr/>
          <p:nvPr/>
        </p:nvSpPr>
        <p:spPr>
          <a:xfrm>
            <a:off x="2819400" y="4655691"/>
            <a:ext cx="2146300" cy="350490"/>
          </a:xfrm>
          <a:prstGeom prst="roundRect">
            <a:avLst>
              <a:gd name="adj" fmla="val 21741"/>
            </a:avLst>
          </a:prstGeom>
          <a:solidFill>
            <a:srgbClr val="FBF7EF"/>
          </a:solidFill>
          <a:ln/>
        </p:spPr>
        <p:txBody>
          <a:bodyPr wrap="square" lIns="79282" tIns="53882" rIns="20989"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You file into vaults</a:t>
            </a:r>
            <a:endParaRPr lang="en-US" sz="1200" dirty="0"/>
          </a:p>
        </p:txBody>
      </p:sp>
      <p:sp>
        <p:nvSpPr>
          <p:cNvPr id="22" name="Text 15"/>
          <p:cNvSpPr/>
          <p:nvPr/>
        </p:nvSpPr>
        <p:spPr>
          <a:xfrm>
            <a:off x="5168900" y="3530600"/>
            <a:ext cx="939800"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B85A1B"/>
                </a:solidFill>
                <a:latin typeface="Nunito Sans" pitchFamily="34" charset="0"/>
                <a:ea typeface="Nunito Sans" pitchFamily="34" charset="-122"/>
                <a:cs typeface="Nunito Sans" pitchFamily="34" charset="-120"/>
              </a:rPr>
              <a:t>Must-read</a:t>
            </a:r>
            <a:endParaRPr lang="en-US" sz="1200" dirty="0"/>
          </a:p>
          <a:p>
            <a:pPr marL="0" indent="0" algn="ctr">
              <a:lnSpc>
                <a:spcPts val="1440"/>
              </a:lnSpc>
              <a:buNone/>
            </a:pPr>
            <a:r>
              <a:rPr lang="en-US" sz="1200" b="1" dirty="0">
                <a:solidFill>
                  <a:srgbClr val="B85A1B"/>
                </a:solidFill>
                <a:latin typeface="Nunito Sans" pitchFamily="34" charset="0"/>
                <a:ea typeface="Nunito Sans" pitchFamily="34" charset="-122"/>
                <a:cs typeface="Nunito Sans" pitchFamily="34" charset="-120"/>
              </a:rPr>
              <a:t>PDFs</a:t>
            </a:r>
            <a:endParaRPr lang="en-US" sz="1200" dirty="0"/>
          </a:p>
        </p:txBody>
      </p:sp>
      <p:pic>
        <p:nvPicPr>
          <p:cNvPr id="23" name="Image 5" descr="connector"/>
          <p:cNvPicPr>
            <a:picLocks noChangeAspect="1"/>
          </p:cNvPicPr>
          <p:nvPr/>
        </p:nvPicPr>
        <p:blipFill>
          <a:blip r:embed="rId8"/>
          <a:srcRect/>
          <a:stretch/>
        </p:blipFill>
        <p:spPr>
          <a:xfrm>
            <a:off x="5156200" y="3937000"/>
            <a:ext cx="965200" cy="127000"/>
          </a:xfrm>
          <a:prstGeom prst="rect">
            <a:avLst/>
          </a:prstGeom>
        </p:spPr>
      </p:pic>
      <p:sp>
        <p:nvSpPr>
          <p:cNvPr id="24" name="Shape 16"/>
          <p:cNvSpPr/>
          <p:nvPr/>
        </p:nvSpPr>
        <p:spPr>
          <a:xfrm>
            <a:off x="6096000" y="2425700"/>
            <a:ext cx="2768600" cy="3149600"/>
          </a:xfrm>
          <a:prstGeom prst="roundRect">
            <a:avLst>
              <a:gd name="adj" fmla="val 5963"/>
            </a:avLst>
          </a:prstGeom>
          <a:solidFill>
            <a:srgbClr val="FFFFFF"/>
          </a:solidFill>
          <a:ln w="25400">
            <a:solidFill>
              <a:srgbClr val="3B82C4"/>
            </a:solidFill>
            <a:prstDash val="solid"/>
          </a:ln>
        </p:spPr>
        <p:txBody>
          <a:bodyPr/>
          <a:lstStyle/>
          <a:p>
            <a:endParaRPr lang="en-US"/>
          </a:p>
        </p:txBody>
      </p:sp>
      <p:sp>
        <p:nvSpPr>
          <p:cNvPr id="25" name="Text 17"/>
          <p:cNvSpPr/>
          <p:nvPr/>
        </p:nvSpPr>
        <p:spPr>
          <a:xfrm>
            <a:off x="6311900" y="2641600"/>
            <a:ext cx="240690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A8"/>
                </a:solidFill>
                <a:latin typeface="Nunito Sans" pitchFamily="34" charset="0"/>
                <a:ea typeface="Nunito Sans" pitchFamily="34" charset="-122"/>
                <a:cs typeface="Nunito Sans" pitchFamily="34" charset="-120"/>
              </a:rPr>
              <a:t>STAGE 2 · EXTRACT</a:t>
            </a:r>
            <a:endParaRPr lang="en-US" sz="1200" dirty="0"/>
          </a:p>
        </p:txBody>
      </p:sp>
      <p:sp>
        <p:nvSpPr>
          <p:cNvPr id="26" name="Text 18"/>
          <p:cNvSpPr/>
          <p:nvPr/>
        </p:nvSpPr>
        <p:spPr>
          <a:xfrm>
            <a:off x="6311900" y="2943820"/>
            <a:ext cx="240690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Fredoka" pitchFamily="34" charset="0"/>
                <a:ea typeface="Fredoka" pitchFamily="34" charset="-122"/>
                <a:cs typeface="Fredoka" pitchFamily="34" charset="-120"/>
              </a:rPr>
              <a:t>Extraction Agent</a:t>
            </a:r>
            <a:endParaRPr lang="en-US" sz="1800" dirty="0"/>
          </a:p>
        </p:txBody>
      </p:sp>
      <p:sp>
        <p:nvSpPr>
          <p:cNvPr id="27" name="Text 19"/>
          <p:cNvSpPr/>
          <p:nvPr/>
        </p:nvSpPr>
        <p:spPr>
          <a:xfrm>
            <a:off x="6311900" y="3307011"/>
            <a:ext cx="2336800" cy="350490"/>
          </a:xfrm>
          <a:prstGeom prst="roundRect">
            <a:avLst>
              <a:gd name="adj" fmla="val 21741"/>
            </a:avLst>
          </a:prstGeom>
          <a:solidFill>
            <a:srgbClr val="FBF7EF"/>
          </a:solidFill>
          <a:ln/>
        </p:spPr>
        <p:txBody>
          <a:bodyPr wrap="square" lIns="79282" tIns="53882" rIns="15274"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Load the PDF</a:t>
            </a:r>
            <a:endParaRPr lang="en-US" sz="1200" dirty="0"/>
          </a:p>
        </p:txBody>
      </p:sp>
      <p:sp>
        <p:nvSpPr>
          <p:cNvPr id="28" name="Text 20"/>
          <p:cNvSpPr/>
          <p:nvPr/>
        </p:nvSpPr>
        <p:spPr>
          <a:xfrm>
            <a:off x="6311900" y="3746401"/>
            <a:ext cx="2336800" cy="350490"/>
          </a:xfrm>
          <a:prstGeom prst="roundRect">
            <a:avLst>
              <a:gd name="adj" fmla="val 21741"/>
            </a:avLst>
          </a:prstGeom>
          <a:solidFill>
            <a:srgbClr val="FBF7EF"/>
          </a:solidFill>
          <a:ln/>
        </p:spPr>
        <p:txBody>
          <a:bodyPr wrap="square" lIns="79282" tIns="53882" rIns="15274"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Extract fields (LLM)</a:t>
            </a:r>
            <a:endParaRPr lang="en-US" sz="1200" dirty="0"/>
          </a:p>
        </p:txBody>
      </p:sp>
      <p:sp>
        <p:nvSpPr>
          <p:cNvPr id="29" name="Text 21"/>
          <p:cNvSpPr/>
          <p:nvPr/>
        </p:nvSpPr>
        <p:spPr>
          <a:xfrm>
            <a:off x="6311900" y="4185791"/>
            <a:ext cx="2336800" cy="350490"/>
          </a:xfrm>
          <a:prstGeom prst="roundRect">
            <a:avLst>
              <a:gd name="adj" fmla="val 21741"/>
            </a:avLst>
          </a:prstGeom>
          <a:solidFill>
            <a:srgbClr val="FBF7EF"/>
          </a:solidFill>
          <a:ln/>
        </p:spPr>
        <p:txBody>
          <a:bodyPr wrap="square" lIns="79282" tIns="53882" rIns="15274"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Validate types</a:t>
            </a:r>
            <a:endParaRPr lang="en-US" sz="1200" dirty="0"/>
          </a:p>
        </p:txBody>
      </p:sp>
      <p:sp>
        <p:nvSpPr>
          <p:cNvPr id="30" name="Text 22"/>
          <p:cNvSpPr/>
          <p:nvPr/>
        </p:nvSpPr>
        <p:spPr>
          <a:xfrm>
            <a:off x="6311900" y="4625181"/>
            <a:ext cx="2336800" cy="350490"/>
          </a:xfrm>
          <a:prstGeom prst="roundRect">
            <a:avLst>
              <a:gd name="adj" fmla="val 21741"/>
            </a:avLst>
          </a:prstGeom>
          <a:solidFill>
            <a:srgbClr val="FBF7EF"/>
          </a:solidFill>
          <a:ln/>
        </p:spPr>
        <p:txBody>
          <a:bodyPr wrap="square" lIns="79282" tIns="53882" rIns="15274" bIns="28482" rtlCol="0" anchor="t">
            <a:normAutofit/>
          </a:bodyPr>
          <a:lstStyle/>
          <a:p>
            <a:pPr marL="0" indent="0" algn="l">
              <a:lnSpc>
                <a:spcPts val="1560"/>
              </a:lnSpc>
              <a:buNone/>
            </a:pPr>
            <a:r>
              <a:rPr lang="en-US" sz="1200" dirty="0">
                <a:solidFill>
                  <a:srgbClr val="1F2A44"/>
                </a:solidFill>
                <a:latin typeface="Nunito Sans" pitchFamily="34" charset="0"/>
                <a:ea typeface="Nunito Sans" pitchFamily="34" charset="-122"/>
                <a:cs typeface="Nunito Sans" pitchFamily="34" charset="-120"/>
              </a:rPr>
              <a:t>Retry on error (≤3×)</a:t>
            </a:r>
            <a:endParaRPr lang="en-US" sz="1200" dirty="0"/>
          </a:p>
        </p:txBody>
      </p:sp>
      <p:pic>
        <p:nvPicPr>
          <p:cNvPr id="31" name="Image 6" descr="connector"/>
          <p:cNvPicPr>
            <a:picLocks noChangeAspect="1"/>
          </p:cNvPicPr>
          <p:nvPr/>
        </p:nvPicPr>
        <p:blipFill>
          <a:blip r:embed="rId9"/>
          <a:srcRect/>
          <a:stretch/>
        </p:blipFill>
        <p:spPr>
          <a:xfrm>
            <a:off x="8839200" y="3937000"/>
            <a:ext cx="457200" cy="127000"/>
          </a:xfrm>
          <a:prstGeom prst="rect">
            <a:avLst/>
          </a:prstGeom>
        </p:spPr>
      </p:pic>
      <p:sp>
        <p:nvSpPr>
          <p:cNvPr id="32" name="Shape 23"/>
          <p:cNvSpPr/>
          <p:nvPr/>
        </p:nvSpPr>
        <p:spPr>
          <a:xfrm>
            <a:off x="9271000" y="2425700"/>
            <a:ext cx="2095500" cy="3149600"/>
          </a:xfrm>
          <a:prstGeom prst="roundRect">
            <a:avLst>
              <a:gd name="adj" fmla="val 7879"/>
            </a:avLst>
          </a:prstGeom>
          <a:solidFill>
            <a:srgbClr val="1F2A44"/>
          </a:solidFill>
          <a:ln w="25400">
            <a:solidFill>
              <a:srgbClr val="1F2A44"/>
            </a:solidFill>
            <a:prstDash val="solid"/>
          </a:ln>
        </p:spPr>
        <p:txBody>
          <a:bodyPr/>
          <a:lstStyle/>
          <a:p>
            <a:endParaRPr lang="en-US"/>
          </a:p>
        </p:txBody>
      </p:sp>
      <p:sp>
        <p:nvSpPr>
          <p:cNvPr id="33" name="Text 24"/>
          <p:cNvSpPr/>
          <p:nvPr/>
        </p:nvSpPr>
        <p:spPr>
          <a:xfrm>
            <a:off x="9486900" y="2641600"/>
            <a:ext cx="17145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5E"/>
                </a:solidFill>
                <a:latin typeface="Nunito Sans" pitchFamily="34" charset="0"/>
                <a:ea typeface="Nunito Sans" pitchFamily="34" charset="-122"/>
                <a:cs typeface="Nunito Sans" pitchFamily="34" charset="-120"/>
              </a:rPr>
              <a:t>OUTPUT</a:t>
            </a:r>
            <a:endParaRPr lang="en-US" sz="1200" dirty="0"/>
          </a:p>
        </p:txBody>
      </p:sp>
      <p:sp>
        <p:nvSpPr>
          <p:cNvPr id="34" name="Text 25"/>
          <p:cNvSpPr/>
          <p:nvPr/>
        </p:nvSpPr>
        <p:spPr>
          <a:xfrm>
            <a:off x="9486900" y="2943820"/>
            <a:ext cx="171450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BF7EF"/>
                </a:solidFill>
                <a:latin typeface="Fredoka" pitchFamily="34" charset="0"/>
                <a:ea typeface="Fredoka" pitchFamily="34" charset="-122"/>
                <a:cs typeface="Fredoka" pitchFamily="34" charset="-120"/>
              </a:rPr>
              <a:t>Live database</a:t>
            </a:r>
            <a:endParaRPr lang="en-US" sz="1800" dirty="0"/>
          </a:p>
        </p:txBody>
      </p:sp>
      <p:sp>
        <p:nvSpPr>
          <p:cNvPr id="35" name="Text 26"/>
          <p:cNvSpPr/>
          <p:nvPr/>
        </p:nvSpPr>
        <p:spPr>
          <a:xfrm>
            <a:off x="9486900" y="3307011"/>
            <a:ext cx="1663700" cy="350490"/>
          </a:xfrm>
          <a:prstGeom prst="roundRect">
            <a:avLst>
              <a:gd name="adj" fmla="val 21741"/>
            </a:avLst>
          </a:prstGeom>
          <a:solidFill>
            <a:srgbClr val="2E3A59"/>
          </a:solidFill>
          <a:ln/>
        </p:spPr>
        <p:txBody>
          <a:bodyPr wrap="square" lIns="79282" tIns="53882" rIns="28482" bIns="28482" rtlCol="0" anchor="t">
            <a:normAutofit/>
          </a:bodyPr>
          <a:lstStyle/>
          <a:p>
            <a:pPr marL="0" indent="0" algn="l">
              <a:lnSpc>
                <a:spcPts val="1560"/>
              </a:lnSpc>
              <a:buNone/>
            </a:pPr>
            <a:r>
              <a:rPr lang="en-US" sz="1200" dirty="0">
                <a:solidFill>
                  <a:srgbClr val="FBF7EF"/>
                </a:solidFill>
                <a:latin typeface="Nunito Sans" pitchFamily="34" charset="0"/>
                <a:ea typeface="Nunito Sans" pitchFamily="34" charset="-122"/>
                <a:cs typeface="Nunito Sans" pitchFamily="34" charset="-120"/>
              </a:rPr>
              <a:t>SQLite tables</a:t>
            </a:r>
            <a:endParaRPr lang="en-US" sz="1200" dirty="0"/>
          </a:p>
        </p:txBody>
      </p:sp>
      <p:sp>
        <p:nvSpPr>
          <p:cNvPr id="36" name="Text 27"/>
          <p:cNvSpPr/>
          <p:nvPr/>
        </p:nvSpPr>
        <p:spPr>
          <a:xfrm>
            <a:off x="9486900" y="3746401"/>
            <a:ext cx="1663700" cy="350490"/>
          </a:xfrm>
          <a:prstGeom prst="roundRect">
            <a:avLst>
              <a:gd name="adj" fmla="val 21741"/>
            </a:avLst>
          </a:prstGeom>
          <a:solidFill>
            <a:srgbClr val="2E3A59"/>
          </a:solidFill>
          <a:ln/>
        </p:spPr>
        <p:txBody>
          <a:bodyPr wrap="square" lIns="79282" tIns="53882" rIns="28482" bIns="28482" rtlCol="0" anchor="t">
            <a:normAutofit/>
          </a:bodyPr>
          <a:lstStyle/>
          <a:p>
            <a:pPr marL="0" indent="0" algn="l">
              <a:lnSpc>
                <a:spcPts val="1560"/>
              </a:lnSpc>
              <a:buNone/>
            </a:pPr>
            <a:r>
              <a:rPr lang="en-US" sz="1200" dirty="0">
                <a:solidFill>
                  <a:srgbClr val="FBF7EF"/>
                </a:solidFill>
                <a:latin typeface="Nunito Sans" pitchFamily="34" charset="0"/>
                <a:ea typeface="Nunito Sans" pitchFamily="34" charset="-122"/>
                <a:cs typeface="Nunito Sans" pitchFamily="34" charset="-120"/>
              </a:rPr>
              <a:t>Cross-paper fill</a:t>
            </a:r>
            <a:endParaRPr lang="en-US" sz="1200" dirty="0"/>
          </a:p>
        </p:txBody>
      </p:sp>
      <p:sp>
        <p:nvSpPr>
          <p:cNvPr id="37" name="Text 28"/>
          <p:cNvSpPr/>
          <p:nvPr/>
        </p:nvSpPr>
        <p:spPr>
          <a:xfrm>
            <a:off x="9486900" y="4185791"/>
            <a:ext cx="1663700" cy="350490"/>
          </a:xfrm>
          <a:prstGeom prst="roundRect">
            <a:avLst>
              <a:gd name="adj" fmla="val 21741"/>
            </a:avLst>
          </a:prstGeom>
          <a:solidFill>
            <a:srgbClr val="2E3A59"/>
          </a:solidFill>
          <a:ln/>
        </p:spPr>
        <p:txBody>
          <a:bodyPr wrap="square" lIns="79282" tIns="53882" rIns="28482" bIns="28482" rtlCol="0" anchor="t">
            <a:normAutofit/>
          </a:bodyPr>
          <a:lstStyle/>
          <a:p>
            <a:pPr marL="0" indent="0" algn="l">
              <a:lnSpc>
                <a:spcPts val="1560"/>
              </a:lnSpc>
              <a:buNone/>
            </a:pPr>
            <a:r>
              <a:rPr lang="en-US" sz="1200" dirty="0">
                <a:solidFill>
                  <a:srgbClr val="FBF7EF"/>
                </a:solidFill>
                <a:latin typeface="Nunito Sans" pitchFamily="34" charset="0"/>
                <a:ea typeface="Nunito Sans" pitchFamily="34" charset="-122"/>
                <a:cs typeface="Nunito Sans" pitchFamily="34" charset="-120"/>
              </a:rPr>
              <a:t>CSV export</a:t>
            </a:r>
            <a:endParaRPr lang="en-US" sz="1200" dirty="0"/>
          </a:p>
        </p:txBody>
      </p:sp>
      <p:sp>
        <p:nvSpPr>
          <p:cNvPr id="38" name="Text 2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Nunito Sans" pitchFamily="34" charset="0"/>
                <a:ea typeface="Nunito Sans" pitchFamily="34" charset="-122"/>
                <a:cs typeface="Nunito Sans" pitchFamily="34" charset="-120"/>
              </a:rPr>
              <a:t>Runs every week: new preprints in, new rows 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1E9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2F6DA8"/>
                </a:solidFill>
                <a:latin typeface="Nunito Sans" pitchFamily="34" charset="0"/>
                <a:ea typeface="Nunito Sans" pitchFamily="34" charset="-122"/>
                <a:cs typeface="Nunito Sans" pitchFamily="34" charset="-120"/>
              </a:rPr>
              <a:t>STAGE 2 · EXTRACT</a:t>
            </a:r>
            <a:endParaRPr lang="en-US" sz="1400" dirty="0"/>
          </a:p>
        </p:txBody>
      </p:sp>
      <p:sp>
        <p:nvSpPr>
          <p:cNvPr id="3" name="Text 1"/>
          <p:cNvSpPr>
            <a:spLocks noGrp="1"/>
          </p:cNvSpPr>
          <p:nvPr>
            <p:ph type="title"/>
          </p:nvPr>
        </p:nvSpPr>
        <p:spPr>
          <a:xfrm>
            <a:off x="812800" y="11303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Fredoka" pitchFamily="34" charset="0"/>
                <a:ea typeface="Fredoka" pitchFamily="34" charset="-122"/>
                <a:cs typeface="Fredoka" pitchFamily="34" charset="-120"/>
              </a:rPr>
              <a:t>The Extraction Agent reads each PDF</a:t>
            </a:r>
            <a:endParaRPr lang="en-US" sz="3200" dirty="0"/>
          </a:p>
        </p:txBody>
      </p:sp>
      <p:sp>
        <p:nvSpPr>
          <p:cNvPr id="4" name="Text 2"/>
          <p:cNvSpPr/>
          <p:nvPr/>
        </p:nvSpPr>
        <p:spPr>
          <a:xfrm>
            <a:off x="812800" y="201930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Nunito Sans" pitchFamily="34" charset="0"/>
                <a:ea typeface="Nunito Sans" pitchFamily="34" charset="-122"/>
                <a:cs typeface="Nunito Sans" pitchFamily="34" charset="-120"/>
              </a:rPr>
              <a:t>LANGGRAPH LOOP, PER PAPER</a:t>
            </a:r>
            <a:endParaRPr lang="en-US" sz="1200" dirty="0"/>
          </a:p>
        </p:txBody>
      </p:sp>
      <p:sp>
        <p:nvSpPr>
          <p:cNvPr id="5" name="Text 3"/>
          <p:cNvSpPr/>
          <p:nvPr/>
        </p:nvSpPr>
        <p:spPr>
          <a:xfrm>
            <a:off x="2955925" y="2400300"/>
            <a:ext cx="1962150" cy="22349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2F6DA8"/>
                </a:solidFill>
                <a:latin typeface="Nunito Sans" pitchFamily="34" charset="0"/>
                <a:ea typeface="Nunito Sans" pitchFamily="34" charset="-122"/>
                <a:cs typeface="Nunito Sans" pitchFamily="34" charset="-120"/>
              </a:rPr>
              <a:t>retry with the exact error</a:t>
            </a:r>
            <a:endParaRPr lang="en-US" sz="1200" dirty="0"/>
          </a:p>
        </p:txBody>
      </p:sp>
      <p:pic>
        <p:nvPicPr>
          <p:cNvPr id="6" name="Image 0" descr="connector"/>
          <p:cNvPicPr>
            <a:picLocks noChangeAspect="1"/>
          </p:cNvPicPr>
          <p:nvPr/>
        </p:nvPicPr>
        <p:blipFill>
          <a:blip r:embed="rId3"/>
          <a:srcRect/>
          <a:stretch/>
        </p:blipFill>
        <p:spPr>
          <a:xfrm>
            <a:off x="4635500" y="2667000"/>
            <a:ext cx="127000" cy="571500"/>
          </a:xfrm>
          <a:prstGeom prst="rect">
            <a:avLst/>
          </a:prstGeom>
        </p:spPr>
      </p:pic>
      <p:pic>
        <p:nvPicPr>
          <p:cNvPr id="7" name="Image 1" descr="connector"/>
          <p:cNvPicPr>
            <a:picLocks noChangeAspect="1"/>
          </p:cNvPicPr>
          <p:nvPr/>
        </p:nvPicPr>
        <p:blipFill>
          <a:blip r:embed="rId4"/>
          <a:srcRect/>
          <a:stretch/>
        </p:blipFill>
        <p:spPr>
          <a:xfrm>
            <a:off x="3111500" y="2667000"/>
            <a:ext cx="1651000" cy="127000"/>
          </a:xfrm>
          <a:prstGeom prst="rect">
            <a:avLst/>
          </a:prstGeom>
        </p:spPr>
      </p:pic>
      <p:pic>
        <p:nvPicPr>
          <p:cNvPr id="8" name="Image 2" descr="connector"/>
          <p:cNvPicPr>
            <a:picLocks noChangeAspect="1"/>
          </p:cNvPicPr>
          <p:nvPr/>
        </p:nvPicPr>
        <p:blipFill>
          <a:blip r:embed="rId5"/>
          <a:srcRect/>
          <a:stretch/>
        </p:blipFill>
        <p:spPr>
          <a:xfrm>
            <a:off x="3111500" y="2667000"/>
            <a:ext cx="127000" cy="546100"/>
          </a:xfrm>
          <a:prstGeom prst="rect">
            <a:avLst/>
          </a:prstGeom>
        </p:spPr>
      </p:pic>
      <p:sp>
        <p:nvSpPr>
          <p:cNvPr id="9" name="Text 4"/>
          <p:cNvSpPr/>
          <p:nvPr/>
        </p:nvSpPr>
        <p:spPr>
          <a:xfrm>
            <a:off x="822325" y="3184525"/>
            <a:ext cx="1250950" cy="623540"/>
          </a:xfrm>
          <a:prstGeom prst="roundRect">
            <a:avLst>
              <a:gd name="adj" fmla="val 16803"/>
            </a:avLst>
          </a:prstGeom>
          <a:solidFill>
            <a:srgbClr val="FFFFFF"/>
          </a:solidFill>
          <a:ln w="19050">
            <a:solidFill>
              <a:srgbClr val="1F2A44"/>
            </a:solidFill>
            <a:prstDash val="solid"/>
          </a:ln>
        </p:spPr>
        <p:txBody>
          <a:bodyPr wrap="square" lIns="29637" tIns="156637" rIns="29637" bIns="131237" rtlCol="0" anchor="t">
            <a:normAutofit/>
          </a:bodyPr>
          <a:lstStyle/>
          <a:p>
            <a:pPr marL="0" indent="0" algn="ctr">
              <a:lnSpc>
                <a:spcPts val="1960"/>
              </a:lnSpc>
              <a:buNone/>
            </a:pPr>
            <a:r>
              <a:rPr lang="en-US" sz="1400" b="1" dirty="0">
                <a:solidFill>
                  <a:srgbClr val="1F2A44"/>
                </a:solidFill>
                <a:latin typeface="Nunito Sans" pitchFamily="34" charset="0"/>
                <a:ea typeface="Nunito Sans" pitchFamily="34" charset="-122"/>
                <a:cs typeface="Nunito Sans" pitchFamily="34" charset="-120"/>
              </a:rPr>
              <a:t>load_pdf</a:t>
            </a:r>
            <a:endParaRPr lang="en-US" sz="1400" dirty="0"/>
          </a:p>
        </p:txBody>
      </p:sp>
      <p:sp>
        <p:nvSpPr>
          <p:cNvPr id="10" name="Text 5"/>
          <p:cNvSpPr/>
          <p:nvPr/>
        </p:nvSpPr>
        <p:spPr>
          <a:xfrm>
            <a:off x="2549525" y="3184525"/>
            <a:ext cx="1250950" cy="623540"/>
          </a:xfrm>
          <a:prstGeom prst="roundRect">
            <a:avLst>
              <a:gd name="adj" fmla="val 16803"/>
            </a:avLst>
          </a:prstGeom>
          <a:solidFill>
            <a:srgbClr val="FFFFFF"/>
          </a:solidFill>
          <a:ln w="19050">
            <a:solidFill>
              <a:srgbClr val="3B82C4"/>
            </a:solidFill>
            <a:prstDash val="solid"/>
          </a:ln>
        </p:spPr>
        <p:txBody>
          <a:bodyPr wrap="square" lIns="29637" tIns="156637" rIns="29637" bIns="131237" rtlCol="0" anchor="t">
            <a:normAutofit/>
          </a:bodyPr>
          <a:lstStyle/>
          <a:p>
            <a:pPr marL="0" indent="0" algn="ctr">
              <a:lnSpc>
                <a:spcPts val="1960"/>
              </a:lnSpc>
              <a:buNone/>
            </a:pPr>
            <a:r>
              <a:rPr lang="en-US" sz="1400" b="1" dirty="0">
                <a:solidFill>
                  <a:srgbClr val="1F2A44"/>
                </a:solidFill>
                <a:latin typeface="Nunito Sans" pitchFamily="34" charset="0"/>
                <a:ea typeface="Nunito Sans" pitchFamily="34" charset="-122"/>
                <a:cs typeface="Nunito Sans" pitchFamily="34" charset="-120"/>
              </a:rPr>
              <a:t>extract</a:t>
            </a:r>
            <a:endParaRPr lang="en-US" sz="1400" dirty="0"/>
          </a:p>
        </p:txBody>
      </p:sp>
      <p:sp>
        <p:nvSpPr>
          <p:cNvPr id="11" name="Text 6"/>
          <p:cNvSpPr/>
          <p:nvPr/>
        </p:nvSpPr>
        <p:spPr>
          <a:xfrm>
            <a:off x="4073525" y="3184525"/>
            <a:ext cx="1250950" cy="623540"/>
          </a:xfrm>
          <a:prstGeom prst="roundRect">
            <a:avLst>
              <a:gd name="adj" fmla="val 16803"/>
            </a:avLst>
          </a:prstGeom>
          <a:solidFill>
            <a:srgbClr val="FFFFFF"/>
          </a:solidFill>
          <a:ln w="19050">
            <a:solidFill>
              <a:srgbClr val="1F2A44"/>
            </a:solidFill>
            <a:prstDash val="solid"/>
          </a:ln>
        </p:spPr>
        <p:txBody>
          <a:bodyPr wrap="square" lIns="29637" tIns="156637" rIns="29637" bIns="131237" rtlCol="0" anchor="t">
            <a:normAutofit/>
          </a:bodyPr>
          <a:lstStyle/>
          <a:p>
            <a:pPr marL="0" indent="0" algn="ctr">
              <a:lnSpc>
                <a:spcPts val="1960"/>
              </a:lnSpc>
              <a:buNone/>
            </a:pPr>
            <a:r>
              <a:rPr lang="en-US" sz="1400" b="1" dirty="0">
                <a:solidFill>
                  <a:srgbClr val="1F2A44"/>
                </a:solidFill>
                <a:latin typeface="Nunito Sans" pitchFamily="34" charset="0"/>
                <a:ea typeface="Nunito Sans" pitchFamily="34" charset="-122"/>
                <a:cs typeface="Nunito Sans" pitchFamily="34" charset="-120"/>
              </a:rPr>
              <a:t>validate</a:t>
            </a:r>
            <a:endParaRPr lang="en-US" sz="1400" dirty="0"/>
          </a:p>
        </p:txBody>
      </p:sp>
      <p:pic>
        <p:nvPicPr>
          <p:cNvPr id="12" name="Image 3" descr="connector"/>
          <p:cNvPicPr>
            <a:picLocks noChangeAspect="1"/>
          </p:cNvPicPr>
          <p:nvPr/>
        </p:nvPicPr>
        <p:blipFill>
          <a:blip r:embed="rId6"/>
          <a:srcRect/>
          <a:stretch/>
        </p:blipFill>
        <p:spPr>
          <a:xfrm>
            <a:off x="2032000" y="3429000"/>
            <a:ext cx="546100" cy="127000"/>
          </a:xfrm>
          <a:prstGeom prst="rect">
            <a:avLst/>
          </a:prstGeom>
        </p:spPr>
      </p:pic>
      <p:pic>
        <p:nvPicPr>
          <p:cNvPr id="13" name="Image 4" descr="connector"/>
          <p:cNvPicPr>
            <a:picLocks noChangeAspect="1"/>
          </p:cNvPicPr>
          <p:nvPr/>
        </p:nvPicPr>
        <p:blipFill>
          <a:blip r:embed="rId7"/>
          <a:srcRect/>
          <a:stretch/>
        </p:blipFill>
        <p:spPr>
          <a:xfrm>
            <a:off x="3759200" y="3429000"/>
            <a:ext cx="342900" cy="127000"/>
          </a:xfrm>
          <a:prstGeom prst="rect">
            <a:avLst/>
          </a:prstGeom>
        </p:spPr>
      </p:pic>
      <p:pic>
        <p:nvPicPr>
          <p:cNvPr id="14" name="Image 5" descr="connector"/>
          <p:cNvPicPr>
            <a:picLocks noChangeAspect="1"/>
          </p:cNvPicPr>
          <p:nvPr/>
        </p:nvPicPr>
        <p:blipFill>
          <a:blip r:embed="rId8"/>
          <a:srcRect/>
          <a:stretch/>
        </p:blipFill>
        <p:spPr>
          <a:xfrm>
            <a:off x="4635500" y="3759200"/>
            <a:ext cx="127000" cy="596900"/>
          </a:xfrm>
          <a:prstGeom prst="rect">
            <a:avLst/>
          </a:prstGeom>
        </p:spPr>
      </p:pic>
      <p:sp>
        <p:nvSpPr>
          <p:cNvPr id="15" name="Text 7"/>
          <p:cNvSpPr/>
          <p:nvPr/>
        </p:nvSpPr>
        <p:spPr>
          <a:xfrm>
            <a:off x="4826000" y="3924300"/>
            <a:ext cx="558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44"/>
                </a:solidFill>
                <a:latin typeface="Nunito Sans" pitchFamily="34" charset="0"/>
                <a:ea typeface="Nunito Sans" pitchFamily="34" charset="-122"/>
                <a:cs typeface="Nunito Sans" pitchFamily="34" charset="-120"/>
              </a:rPr>
              <a:t>ok</a:t>
            </a:r>
            <a:endParaRPr lang="en-US" sz="1200" dirty="0"/>
          </a:p>
        </p:txBody>
      </p:sp>
      <p:sp>
        <p:nvSpPr>
          <p:cNvPr id="16" name="Text 8"/>
          <p:cNvSpPr/>
          <p:nvPr/>
        </p:nvSpPr>
        <p:spPr>
          <a:xfrm>
            <a:off x="4073525" y="4327525"/>
            <a:ext cx="1250950" cy="521940"/>
          </a:xfrm>
          <a:prstGeom prst="roundRect">
            <a:avLst>
              <a:gd name="adj" fmla="val 20074"/>
            </a:avLst>
          </a:prstGeom>
          <a:solidFill>
            <a:srgbClr val="1F2A44"/>
          </a:solidFill>
          <a:ln w="19050">
            <a:solidFill>
              <a:srgbClr val="1F2A44"/>
            </a:solidFill>
            <a:prstDash val="solid"/>
          </a:ln>
        </p:spPr>
        <p:txBody>
          <a:bodyPr wrap="square" lIns="29637" tIns="105837" rIns="29637" bIns="80437" rtlCol="0" anchor="t">
            <a:normAutofit/>
          </a:bodyPr>
          <a:lstStyle/>
          <a:p>
            <a:pPr marL="0" indent="0" algn="ctr">
              <a:lnSpc>
                <a:spcPts val="1960"/>
              </a:lnSpc>
              <a:buNone/>
            </a:pPr>
            <a:r>
              <a:rPr lang="en-US" sz="1400" b="1" dirty="0">
                <a:solidFill>
                  <a:srgbClr val="FBF7EF"/>
                </a:solidFill>
                <a:latin typeface="Nunito Sans" pitchFamily="34" charset="0"/>
                <a:ea typeface="Nunito Sans" pitchFamily="34" charset="-122"/>
                <a:cs typeface="Nunito Sans" pitchFamily="34" charset="-120"/>
              </a:rPr>
              <a:t>→ database</a:t>
            </a:r>
            <a:endParaRPr lang="en-US" sz="1400" dirty="0"/>
          </a:p>
        </p:txBody>
      </p:sp>
      <p:sp>
        <p:nvSpPr>
          <p:cNvPr id="17" name="Text 9"/>
          <p:cNvSpPr/>
          <p:nvPr/>
        </p:nvSpPr>
        <p:spPr>
          <a:xfrm>
            <a:off x="812800" y="508000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8"/>
                </a:solidFill>
                <a:latin typeface="Nunito Sans" pitchFamily="34" charset="0"/>
                <a:ea typeface="Nunito Sans" pitchFamily="34" charset="-122"/>
                <a:cs typeface="Nunito Sans" pitchFamily="34" charset="-120"/>
              </a:rPr>
              <a:t>PDF mode:</a:t>
            </a:r>
            <a:r>
              <a:rPr lang="en-US" sz="1200" dirty="0">
                <a:solidFill>
                  <a:srgbClr val="4A5568"/>
                </a:solidFill>
                <a:latin typeface="Nunito Sans" pitchFamily="34" charset="0"/>
                <a:ea typeface="Nunito Sans" pitchFamily="34" charset="-122"/>
                <a:cs typeface="Nunito Sans" pitchFamily="34" charset="-120"/>
              </a:rPr>
              <a:t> native (figures and tables readable) or text (cheaper)</a:t>
            </a:r>
            <a:endParaRPr lang="en-US" sz="1200" dirty="0"/>
          </a:p>
        </p:txBody>
      </p:sp>
      <p:sp>
        <p:nvSpPr>
          <p:cNvPr id="18" name="Text 10"/>
          <p:cNvSpPr/>
          <p:nvPr/>
        </p:nvSpPr>
        <p:spPr>
          <a:xfrm>
            <a:off x="812800" y="534412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8"/>
                </a:solidFill>
                <a:latin typeface="Nunito Sans" pitchFamily="34" charset="0"/>
                <a:ea typeface="Nunito Sans" pitchFamily="34" charset="-122"/>
                <a:cs typeface="Nunito Sans" pitchFamily="34" charset="-120"/>
              </a:rPr>
              <a:t>Model:</a:t>
            </a:r>
            <a:r>
              <a:rPr lang="en-US" sz="1200" dirty="0">
                <a:solidFill>
                  <a:srgbClr val="4A5568"/>
                </a:solidFill>
                <a:latin typeface="Nunito Sans" pitchFamily="34" charset="0"/>
                <a:ea typeface="Nunito Sans" pitchFamily="34" charset="-122"/>
                <a:cs typeface="Nunito Sans" pitchFamily="34" charset="-120"/>
              </a:rPr>
              <a:t> any OpenRouter model with structured outputs</a:t>
            </a:r>
            <a:endParaRPr lang="en-US" sz="1200" dirty="0"/>
          </a:p>
        </p:txBody>
      </p:sp>
      <p:sp>
        <p:nvSpPr>
          <p:cNvPr id="19" name="Text 11"/>
          <p:cNvSpPr/>
          <p:nvPr/>
        </p:nvSpPr>
        <p:spPr>
          <a:xfrm>
            <a:off x="5969000" y="2019300"/>
            <a:ext cx="55725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Nunito Sans" pitchFamily="34" charset="0"/>
                <a:ea typeface="Nunito Sans" pitchFamily="34" charset="-122"/>
                <a:cs typeface="Nunito Sans" pitchFamily="34" charset="-120"/>
              </a:rPr>
              <a:t>FIELDS.YAML · MCFA EXAMPLE, ONE ROW PER MICROBE</a:t>
            </a:r>
            <a:endParaRPr lang="en-US" sz="1200" dirty="0"/>
          </a:p>
        </p:txBody>
      </p:sp>
      <p:sp>
        <p:nvSpPr>
          <p:cNvPr id="20" name="Shape 12"/>
          <p:cNvSpPr/>
          <p:nvPr/>
        </p:nvSpPr>
        <p:spPr>
          <a:xfrm>
            <a:off x="5969000" y="2349500"/>
            <a:ext cx="5410200" cy="2887266"/>
          </a:xfrm>
          <a:prstGeom prst="roundRect">
            <a:avLst>
              <a:gd name="adj" fmla="val 3519"/>
            </a:avLst>
          </a:prstGeom>
          <a:solidFill>
            <a:srgbClr val="FFFFFF"/>
          </a:solidFill>
          <a:ln/>
        </p:spPr>
        <p:txBody>
          <a:bodyPr/>
          <a:lstStyle/>
          <a:p>
            <a:endParaRPr lang="en-US"/>
          </a:p>
        </p:txBody>
      </p:sp>
      <p:sp>
        <p:nvSpPr>
          <p:cNvPr id="21" name="Shape 13"/>
          <p:cNvSpPr/>
          <p:nvPr/>
        </p:nvSpPr>
        <p:spPr>
          <a:xfrm>
            <a:off x="5969000" y="2349500"/>
            <a:ext cx="5410200" cy="2887266"/>
          </a:xfrm>
          <a:custGeom>
            <a:avLst/>
            <a:gdLst/>
            <a:ahLst/>
            <a:cxnLst/>
            <a:rect l="l" t="t" r="r" b="b"/>
            <a:pathLst>
              <a:path w="5410200" h="2887266">
                <a:moveTo>
                  <a:pt x="101600" y="2887266"/>
                </a:moveTo>
                <a:lnTo>
                  <a:pt x="101600" y="2887266"/>
                </a:lnTo>
                <a:arcTo wR="101600" hR="101600" stAng="5400000" swAng="5400000"/>
                <a:lnTo>
                  <a:pt x="0" y="101600"/>
                </a:lnTo>
                <a:arcTo wR="101600" hR="101600" stAng="10800000" swAng="5400000"/>
                <a:lnTo>
                  <a:pt x="5308600" y="0"/>
                </a:lnTo>
                <a:arcTo wR="101600" hR="101600" stAng="16200000" swAng="5400000"/>
                <a:lnTo>
                  <a:pt x="5410200" y="101600"/>
                </a:lnTo>
                <a:arcTo wR="101600" hR="88900" stAng="0" swAng="-5400000"/>
                <a:lnTo>
                  <a:pt x="101600" y="12700"/>
                </a:lnTo>
                <a:arcTo wR="88900" hR="88900" stAng="16200000" swAng="-5400000"/>
                <a:lnTo>
                  <a:pt x="12700" y="2785666"/>
                </a:lnTo>
                <a:arcTo wR="88900" hR="101600" stAng="10800000" swAng="-5400000"/>
                <a:close/>
              </a:path>
            </a:pathLst>
          </a:custGeom>
          <a:solidFill>
            <a:srgbClr val="141413">
              <a:alpha val="22000"/>
            </a:srgbClr>
          </a:solidFill>
          <a:ln/>
        </p:spPr>
        <p:txBody>
          <a:bodyPr/>
          <a:lstStyle/>
          <a:p>
            <a:endParaRPr lang="en-US"/>
          </a:p>
        </p:txBody>
      </p:sp>
      <p:sp>
        <p:nvSpPr>
          <p:cNvPr id="22" name="Shape 14"/>
          <p:cNvSpPr/>
          <p:nvPr/>
        </p:nvSpPr>
        <p:spPr>
          <a:xfrm>
            <a:off x="5981700" y="2362200"/>
            <a:ext cx="5397500" cy="359321"/>
          </a:xfrm>
          <a:custGeom>
            <a:avLst/>
            <a:gdLst/>
            <a:ahLst/>
            <a:cxnLst/>
            <a:rect l="l" t="t" r="r" b="b"/>
            <a:pathLst>
              <a:path w="5397500" h="359321">
                <a:moveTo>
                  <a:pt x="0" y="88900"/>
                </a:moveTo>
                <a:arcTo wR="88900" hR="88900" stAng="10800000" swAng="5400000"/>
                <a:lnTo>
                  <a:pt x="5295900" y="0"/>
                </a:lnTo>
                <a:arcTo wR="101600" hR="101600" stAng="16200000" swAng="5400000"/>
                <a:lnTo>
                  <a:pt x="5397500" y="359321"/>
                </a:lnTo>
                <a:lnTo>
                  <a:pt x="0" y="359321"/>
                </a:lnTo>
                <a:close/>
              </a:path>
            </a:pathLst>
          </a:custGeom>
          <a:solidFill>
            <a:srgbClr val="ECECEC"/>
          </a:solidFill>
          <a:ln/>
        </p:spPr>
        <p:txBody>
          <a:bodyPr/>
          <a:lstStyle/>
          <a:p>
            <a:endParaRPr lang="en-US"/>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81700" y="2362200"/>
          <a:ext cx="5397500" cy="2874568"/>
        </p:xfrm>
        <a:graphic>
          <a:graphicData uri="http://schemas.openxmlformats.org/drawingml/2006/table">
            <a:tbl>
              <a:tblPr/>
              <a:tblGrid>
                <a:gridCol w="20510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374900">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F2A44"/>
                          </a:solidFill>
                          <a:latin typeface="Nunito Sans" pitchFamily="34" charset="0"/>
                          <a:ea typeface="Nunito Sans" pitchFamily="34" charset="-122"/>
                          <a:cs typeface="Nunito Sans" pitchFamily="34" charset="-120"/>
                        </a:rPr>
                        <a:t>Field</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nSpc>
                          <a:spcPts val="1820"/>
                        </a:lnSpc>
                        <a:buNone/>
                      </a:pPr>
                      <a:r>
                        <a:rPr lang="en-US" sz="1300" b="1" dirty="0">
                          <a:solidFill>
                            <a:srgbClr val="1F2A44"/>
                          </a:solidFill>
                          <a:latin typeface="Nunito Sans" pitchFamily="34" charset="0"/>
                          <a:ea typeface="Nunito Sans" pitchFamily="34" charset="-122"/>
                          <a:cs typeface="Nunito Sans" pitchFamily="34" charset="-120"/>
                        </a:rPr>
                        <a:t>Type</a:t>
                      </a:r>
                      <a:endParaRPr lang="en-US" sz="1300" dirty="0">
                        <a:latin typeface="Nunito Sans" charset="0"/>
                        <a:ea typeface="Nunito Sans" charset="0"/>
                        <a:cs typeface="Nunito Sans"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nSpc>
                          <a:spcPts val="1820"/>
                        </a:lnSpc>
                        <a:buNone/>
                      </a:pPr>
                      <a:r>
                        <a:rPr lang="en-US" sz="1300" b="1" dirty="0">
                          <a:solidFill>
                            <a:srgbClr val="1F2A44"/>
                          </a:solidFill>
                          <a:latin typeface="Nunito Sans" pitchFamily="34" charset="0"/>
                          <a:ea typeface="Nunito Sans" pitchFamily="34" charset="-122"/>
                          <a:cs typeface="Nunito Sans" pitchFamily="34" charset="-120"/>
                        </a:rPr>
                        <a:t>Holds</a:t>
                      </a:r>
                      <a:endParaRPr lang="en-US" sz="1300" dirty="0">
                        <a:latin typeface="Nunito Sans" charset="0"/>
                        <a:ea typeface="Nunito Sans" charset="0"/>
                        <a:cs typeface="Nunito Sans"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microbe_name</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string</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Organism and strain</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makes_mcfa</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boolean</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Makes C6–C12 acids?</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mcfa_products</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list</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caproate, caprylate…</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mcfa_titer</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string</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Best titer, with units</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isolation_source</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string</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Where it came from</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source_type</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string</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gut/rumen, soil, sludge…</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strain_origin</a:t>
                      </a:r>
                      <a:endParaRPr lang="en-US" sz="1300" dirty="0">
                        <a:latin typeface="Nunito Sans" charset="0"/>
                        <a:ea typeface="Nunito Sans" charset="0"/>
                        <a:cs typeface="Nunito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string</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A44"/>
                          </a:solidFill>
                          <a:latin typeface="Nunito Sans" pitchFamily="34" charset="0"/>
                          <a:ea typeface="Nunito Sans" pitchFamily="34" charset="-122"/>
                          <a:cs typeface="Nunito Sans" pitchFamily="34" charset="-120"/>
                        </a:rPr>
                        <a:t>Isolated, collection, lab</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13BFF-0470-A29A-AA1A-469D0DF8091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171707-CA37-30AE-C8E5-FA3DFAFA67DE}"/>
              </a:ext>
            </a:extLst>
          </p:cNvPr>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2F6DA8"/>
                </a:solidFill>
                <a:latin typeface="Nunito Sans" pitchFamily="34" charset="0"/>
                <a:ea typeface="Nunito Sans" pitchFamily="34" charset="-122"/>
                <a:cs typeface="Nunito Sans" pitchFamily="34" charset="-120"/>
              </a:rPr>
              <a:t>STAGE 2 · EXTRACT</a:t>
            </a:r>
            <a:endParaRPr lang="en-US" sz="1400" dirty="0"/>
          </a:p>
        </p:txBody>
      </p:sp>
      <p:sp>
        <p:nvSpPr>
          <p:cNvPr id="3" name="Text 1">
            <a:extLst>
              <a:ext uri="{FF2B5EF4-FFF2-40B4-BE49-F238E27FC236}">
                <a16:creationId xmlns:a16="http://schemas.microsoft.com/office/drawing/2014/main" id="{8B31637D-3C47-D606-DDAD-534C8021E24D}"/>
              </a:ext>
            </a:extLst>
          </p:cNvPr>
          <p:cNvSpPr>
            <a:spLocks noGrp="1"/>
          </p:cNvSpPr>
          <p:nvPr>
            <p:ph type="title"/>
          </p:nvPr>
        </p:nvSpPr>
        <p:spPr>
          <a:xfrm>
            <a:off x="812800" y="1130300"/>
            <a:ext cx="10883392" cy="472430"/>
          </a:xfrm>
          <a:prstGeom prst="rect">
            <a:avLst/>
          </a:prstGeom>
          <a:noFill/>
          <a:ln/>
        </p:spPr>
        <p:txBody>
          <a:bodyPr wrap="square" lIns="0" tIns="0" rIns="0" bIns="0" rtlCol="0" anchor="t">
            <a:normAutofit fontScale="90000"/>
          </a:bodyPr>
          <a:lstStyle/>
          <a:p>
            <a:pPr marL="0" indent="0" algn="l">
              <a:lnSpc>
                <a:spcPts val="3520"/>
              </a:lnSpc>
              <a:buNone/>
            </a:pPr>
            <a:r>
              <a:rPr lang="en-US" sz="3200" b="1" i="0" dirty="0">
                <a:solidFill>
                  <a:srgbClr val="1F2A44"/>
                </a:solidFill>
                <a:latin typeface="Fredoka" pitchFamily="34" charset="0"/>
                <a:ea typeface="Fredoka" pitchFamily="34" charset="-122"/>
                <a:cs typeface="Fredoka" pitchFamily="34" charset="-120"/>
              </a:rPr>
              <a:t>The Extraction Agent </a:t>
            </a:r>
            <a:r>
              <a:rPr lang="en-US" b="1" dirty="0"/>
              <a:t>a</a:t>
            </a:r>
            <a:r>
              <a:rPr lang="en-US" sz="3200" b="1" i="0" dirty="0">
                <a:solidFill>
                  <a:srgbClr val="1F2A44"/>
                </a:solidFill>
                <a:latin typeface="Fredoka" pitchFamily="34" charset="0"/>
                <a:ea typeface="Fredoka" pitchFamily="34" charset="-122"/>
                <a:cs typeface="Fredoka" pitchFamily="34" charset="-120"/>
              </a:rPr>
              <a:t>lso identifies the key references cited in the paper. </a:t>
            </a:r>
            <a:endParaRPr lang="en-US" sz="3200" dirty="0"/>
          </a:p>
        </p:txBody>
      </p:sp>
      <p:pic>
        <p:nvPicPr>
          <p:cNvPr id="24" name="Picture 23">
            <a:extLst>
              <a:ext uri="{FF2B5EF4-FFF2-40B4-BE49-F238E27FC236}">
                <a16:creationId xmlns:a16="http://schemas.microsoft.com/office/drawing/2014/main" id="{F561A6B6-AE38-21B3-DC7A-AC3746CFEAB0}"/>
              </a:ext>
            </a:extLst>
          </p:cNvPr>
          <p:cNvPicPr>
            <a:picLocks noChangeAspect="1"/>
          </p:cNvPicPr>
          <p:nvPr/>
        </p:nvPicPr>
        <p:blipFill>
          <a:blip r:embed="rId3"/>
          <a:stretch>
            <a:fillRect/>
          </a:stretch>
        </p:blipFill>
        <p:spPr>
          <a:xfrm>
            <a:off x="613246" y="2246013"/>
            <a:ext cx="10965507" cy="3367977"/>
          </a:xfrm>
          <a:prstGeom prst="rect">
            <a:avLst/>
          </a:prstGeom>
        </p:spPr>
      </p:pic>
    </p:spTree>
    <p:extLst>
      <p:ext uri="{BB962C8B-B14F-4D97-AF65-F5344CB8AC3E}">
        <p14:creationId xmlns:p14="http://schemas.microsoft.com/office/powerpoint/2010/main" val="169757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BF7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B85A1B"/>
                </a:solidFill>
                <a:latin typeface="Nunito Sans" pitchFamily="34" charset="0"/>
                <a:ea typeface="Nunito Sans" pitchFamily="34" charset="-122"/>
                <a:cs typeface="Nunito Sans" pitchFamily="34" charset="-120"/>
              </a:rPr>
              <a:t>THE OUTPUT</a:t>
            </a:r>
            <a:endParaRPr lang="en-US" sz="1400" dirty="0"/>
          </a:p>
        </p:txBody>
      </p:sp>
      <p:sp>
        <p:nvSpPr>
          <p:cNvPr id="3" name="Text 1"/>
          <p:cNvSpPr>
            <a:spLocks noGrp="1"/>
          </p:cNvSpPr>
          <p:nvPr>
            <p:ph type="title"/>
          </p:nvPr>
        </p:nvSpPr>
        <p:spPr>
          <a:xfrm>
            <a:off x="812800" y="116329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Fredoka" pitchFamily="34" charset="0"/>
                <a:ea typeface="Fredoka" pitchFamily="34" charset="-122"/>
                <a:cs typeface="Fredoka" pitchFamily="34" charset="-120"/>
              </a:rPr>
              <a:t>The database stays live</a:t>
            </a:r>
            <a:endParaRPr lang="en-US" sz="3200" dirty="0"/>
          </a:p>
        </p:txBody>
      </p:sp>
      <p:sp>
        <p:nvSpPr>
          <p:cNvPr id="4" name="Shape 2"/>
          <p:cNvSpPr/>
          <p:nvPr/>
        </p:nvSpPr>
        <p:spPr>
          <a:xfrm>
            <a:off x="822325" y="1975445"/>
            <a:ext cx="5175250" cy="1507430"/>
          </a:xfrm>
          <a:prstGeom prst="roundRect">
            <a:avLst>
              <a:gd name="adj" fmla="val 9478"/>
            </a:avLst>
          </a:prstGeom>
          <a:solidFill>
            <a:srgbClr val="FFFFFF"/>
          </a:solidFill>
          <a:ln w="19050">
            <a:solidFill>
              <a:srgbClr val="1F2A44"/>
            </a:solidFill>
            <a:prstDash val="solid"/>
          </a:ln>
        </p:spPr>
        <p:txBody>
          <a:bodyPr/>
          <a:lstStyle/>
          <a:p>
            <a:endParaRPr lang="en-US"/>
          </a:p>
        </p:txBody>
      </p:sp>
      <p:pic>
        <p:nvPicPr>
          <p:cNvPr id="5" name="Image 0" descr="Key"/>
          <p:cNvPicPr>
            <a:picLocks noChangeAspect="1"/>
          </p:cNvPicPr>
          <p:nvPr/>
        </p:nvPicPr>
        <p:blipFill>
          <a:blip r:embed="rId3"/>
          <a:srcRect/>
          <a:stretch/>
        </p:blipFill>
        <p:spPr>
          <a:xfrm>
            <a:off x="1060450" y="2213570"/>
            <a:ext cx="355600" cy="355600"/>
          </a:xfrm>
          <a:prstGeom prst="rect">
            <a:avLst/>
          </a:prstGeom>
        </p:spPr>
      </p:pic>
      <p:sp>
        <p:nvSpPr>
          <p:cNvPr id="6" name="Text 3"/>
          <p:cNvSpPr/>
          <p:nvPr/>
        </p:nvSpPr>
        <p:spPr>
          <a:xfrm>
            <a:off x="1593850" y="2213570"/>
            <a:ext cx="429056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Fredoka" pitchFamily="34" charset="0"/>
                <a:ea typeface="Fredoka" pitchFamily="34" charset="-122"/>
                <a:cs typeface="Fredoka" pitchFamily="34" charset="-120"/>
              </a:rPr>
              <a:t>Only new papers run</a:t>
            </a:r>
            <a:endParaRPr lang="en-US" sz="1800" dirty="0"/>
          </a:p>
        </p:txBody>
      </p:sp>
      <p:sp>
        <p:nvSpPr>
          <p:cNvPr id="7" name="Text 4"/>
          <p:cNvSpPr/>
          <p:nvPr/>
        </p:nvSpPr>
        <p:spPr>
          <a:xfrm>
            <a:off x="1593850" y="2551361"/>
            <a:ext cx="429056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Each PDF is keyed by a hash of its contents. With --watch, PDFs dropped into papers/ are picked up as they arrive.</a:t>
            </a:r>
            <a:endParaRPr lang="en-US" sz="1300" dirty="0"/>
          </a:p>
        </p:txBody>
      </p:sp>
      <p:sp>
        <p:nvSpPr>
          <p:cNvPr id="8" name="Shape 5"/>
          <p:cNvSpPr/>
          <p:nvPr/>
        </p:nvSpPr>
        <p:spPr>
          <a:xfrm>
            <a:off x="6194425" y="1975445"/>
            <a:ext cx="5175250" cy="1507430"/>
          </a:xfrm>
          <a:prstGeom prst="roundRect">
            <a:avLst>
              <a:gd name="adj" fmla="val 9478"/>
            </a:avLst>
          </a:prstGeom>
          <a:solidFill>
            <a:srgbClr val="FFFFFF"/>
          </a:solidFill>
          <a:ln w="19050">
            <a:solidFill>
              <a:srgbClr val="1F2A44"/>
            </a:solidFill>
            <a:prstDash val="solid"/>
          </a:ln>
        </p:spPr>
        <p:txBody>
          <a:bodyPr/>
          <a:lstStyle/>
          <a:p>
            <a:endParaRPr lang="en-US"/>
          </a:p>
        </p:txBody>
      </p:sp>
      <p:pic>
        <p:nvPicPr>
          <p:cNvPr id="9" name="Image 1" descr="Settings"/>
          <p:cNvPicPr>
            <a:picLocks noChangeAspect="1"/>
          </p:cNvPicPr>
          <p:nvPr/>
        </p:nvPicPr>
        <p:blipFill>
          <a:blip r:embed="rId4"/>
          <a:srcRect/>
          <a:stretch/>
        </p:blipFill>
        <p:spPr>
          <a:xfrm>
            <a:off x="6432550" y="2213570"/>
            <a:ext cx="355600" cy="355600"/>
          </a:xfrm>
          <a:prstGeom prst="rect">
            <a:avLst/>
          </a:prstGeom>
        </p:spPr>
      </p:pic>
      <p:sp>
        <p:nvSpPr>
          <p:cNvPr id="10" name="Text 6"/>
          <p:cNvSpPr/>
          <p:nvPr/>
        </p:nvSpPr>
        <p:spPr>
          <a:xfrm>
            <a:off x="6965950" y="2213570"/>
            <a:ext cx="429056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Fredoka" pitchFamily="34" charset="0"/>
                <a:ea typeface="Fredoka" pitchFamily="34" charset="-122"/>
                <a:cs typeface="Fredoka" pitchFamily="34" charset="-120"/>
              </a:rPr>
              <a:t>The schema can grow</a:t>
            </a:r>
            <a:endParaRPr lang="en-US" sz="1800" dirty="0"/>
          </a:p>
        </p:txBody>
      </p:sp>
      <p:sp>
        <p:nvSpPr>
          <p:cNvPr id="11" name="Text 7"/>
          <p:cNvSpPr/>
          <p:nvPr/>
        </p:nvSpPr>
        <p:spPr>
          <a:xfrm>
            <a:off x="6965950" y="2551361"/>
            <a:ext cx="42905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Add a field to fields.yaml and the column appears. --refill re-extracts older papers to fill it.</a:t>
            </a:r>
            <a:endParaRPr lang="en-US" sz="1300" dirty="0"/>
          </a:p>
        </p:txBody>
      </p:sp>
      <p:sp>
        <p:nvSpPr>
          <p:cNvPr id="12" name="Shape 8"/>
          <p:cNvSpPr/>
          <p:nvPr/>
        </p:nvSpPr>
        <p:spPr>
          <a:xfrm>
            <a:off x="822325" y="3679726"/>
            <a:ext cx="5175250" cy="1507430"/>
          </a:xfrm>
          <a:prstGeom prst="roundRect">
            <a:avLst>
              <a:gd name="adj" fmla="val 9478"/>
            </a:avLst>
          </a:prstGeom>
          <a:solidFill>
            <a:srgbClr val="FFFFFF"/>
          </a:solidFill>
          <a:ln w="19050">
            <a:solidFill>
              <a:srgbClr val="1F2A44"/>
            </a:solidFill>
            <a:prstDash val="solid"/>
          </a:ln>
        </p:spPr>
        <p:txBody>
          <a:bodyPr/>
          <a:lstStyle/>
          <a:p>
            <a:endParaRPr lang="en-US"/>
          </a:p>
        </p:txBody>
      </p:sp>
      <p:pic>
        <p:nvPicPr>
          <p:cNvPr id="13" name="Image 2" descr="Link"/>
          <p:cNvPicPr>
            <a:picLocks noChangeAspect="1"/>
          </p:cNvPicPr>
          <p:nvPr/>
        </p:nvPicPr>
        <p:blipFill>
          <a:blip r:embed="rId5"/>
          <a:srcRect/>
          <a:stretch/>
        </p:blipFill>
        <p:spPr>
          <a:xfrm>
            <a:off x="1060450" y="3917851"/>
            <a:ext cx="355600" cy="355600"/>
          </a:xfrm>
          <a:prstGeom prst="rect">
            <a:avLst/>
          </a:prstGeom>
        </p:spPr>
      </p:pic>
      <p:sp>
        <p:nvSpPr>
          <p:cNvPr id="14" name="Text 9"/>
          <p:cNvSpPr/>
          <p:nvPr/>
        </p:nvSpPr>
        <p:spPr>
          <a:xfrm>
            <a:off x="1593850" y="3917851"/>
            <a:ext cx="429056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Fredoka" pitchFamily="34" charset="0"/>
                <a:ea typeface="Fredoka" pitchFamily="34" charset="-122"/>
                <a:cs typeface="Fredoka" pitchFamily="34" charset="-120"/>
              </a:rPr>
              <a:t>Gaps filled across papers</a:t>
            </a:r>
            <a:endParaRPr lang="en-US" sz="1800" dirty="0"/>
          </a:p>
        </p:txBody>
      </p:sp>
      <p:sp>
        <p:nvSpPr>
          <p:cNvPr id="15" name="Text 10"/>
          <p:cNvSpPr/>
          <p:nvPr/>
        </p:nvSpPr>
        <p:spPr>
          <a:xfrm>
            <a:off x="1593850" y="4255641"/>
            <a:ext cx="429056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Carries information about an entity from one paper to another when its identity and identifier match, while recording the source.</a:t>
            </a:r>
            <a:endParaRPr lang="en-US" sz="1300" dirty="0"/>
          </a:p>
        </p:txBody>
      </p:sp>
      <p:sp>
        <p:nvSpPr>
          <p:cNvPr id="16" name="Shape 11"/>
          <p:cNvSpPr/>
          <p:nvPr/>
        </p:nvSpPr>
        <p:spPr>
          <a:xfrm>
            <a:off x="6194425" y="3679726"/>
            <a:ext cx="5175250" cy="1507430"/>
          </a:xfrm>
          <a:prstGeom prst="roundRect">
            <a:avLst>
              <a:gd name="adj" fmla="val 9478"/>
            </a:avLst>
          </a:prstGeom>
          <a:solidFill>
            <a:srgbClr val="FFFFFF"/>
          </a:solidFill>
          <a:ln w="19050">
            <a:solidFill>
              <a:srgbClr val="1F2A44"/>
            </a:solidFill>
            <a:prstDash val="solid"/>
          </a:ln>
        </p:spPr>
        <p:txBody>
          <a:bodyPr/>
          <a:lstStyle/>
          <a:p>
            <a:endParaRPr lang="en-US"/>
          </a:p>
        </p:txBody>
      </p:sp>
      <p:pic>
        <p:nvPicPr>
          <p:cNvPr id="17" name="Image 3" descr="Warning"/>
          <p:cNvPicPr>
            <a:picLocks noChangeAspect="1"/>
          </p:cNvPicPr>
          <p:nvPr/>
        </p:nvPicPr>
        <p:blipFill>
          <a:blip r:embed="rId6"/>
          <a:srcRect/>
          <a:stretch/>
        </p:blipFill>
        <p:spPr>
          <a:xfrm>
            <a:off x="6432550" y="3917851"/>
            <a:ext cx="355600" cy="355600"/>
          </a:xfrm>
          <a:prstGeom prst="rect">
            <a:avLst/>
          </a:prstGeom>
        </p:spPr>
      </p:pic>
      <p:sp>
        <p:nvSpPr>
          <p:cNvPr id="18" name="Text 12"/>
          <p:cNvSpPr/>
          <p:nvPr/>
        </p:nvSpPr>
        <p:spPr>
          <a:xfrm>
            <a:off x="6965950" y="3917851"/>
            <a:ext cx="429056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Fredoka" pitchFamily="34" charset="0"/>
                <a:ea typeface="Fredoka" pitchFamily="34" charset="-122"/>
                <a:cs typeface="Fredoka" pitchFamily="34" charset="-120"/>
              </a:rPr>
              <a:t>Failures stay visible</a:t>
            </a:r>
            <a:endParaRPr lang="en-US" sz="1800" dirty="0"/>
          </a:p>
        </p:txBody>
      </p:sp>
      <p:sp>
        <p:nvSpPr>
          <p:cNvPr id="19" name="Text 13"/>
          <p:cNvSpPr/>
          <p:nvPr/>
        </p:nvSpPr>
        <p:spPr>
          <a:xfrm>
            <a:off x="6965950" y="4255641"/>
            <a:ext cx="429056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Nunito Sans" pitchFamily="34" charset="0"/>
                <a:ea typeface="Nunito Sans" pitchFamily="34" charset="-122"/>
                <a:cs typeface="Nunito Sans" pitchFamily="34" charset="-120"/>
              </a:rPr>
              <a:t>status lists rejected papers and need extra review; run --retry-errors tries them again. Export to CSV for Excel or pandas.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9150" y="1716700"/>
            <a:ext cx="11379200" cy="47243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2B"/>
                </a:solidFill>
                <a:latin typeface="Source Serif 4" pitchFamily="18" charset="0"/>
                <a:ea typeface="Source Serif 4" pitchFamily="18" charset="-122"/>
                <a:cs typeface="Source Serif 4" pitchFamily="18" charset="-120"/>
              </a:rPr>
              <a:t>Organism records found, three runs of identical input (16 Papers)</a:t>
            </a:r>
            <a:endParaRPr lang="en-US" sz="3200" dirty="0"/>
          </a:p>
        </p:txBody>
      </p:sp>
      <p:sp>
        <p:nvSpPr>
          <p:cNvPr id="3" name="Shape 1"/>
          <p:cNvSpPr/>
          <p:nvPr/>
        </p:nvSpPr>
        <p:spPr>
          <a:xfrm>
            <a:off x="812800" y="2644869"/>
            <a:ext cx="10566400" cy="0"/>
          </a:xfrm>
          <a:prstGeom prst="line">
            <a:avLst/>
          </a:prstGeom>
          <a:noFill/>
          <a:ln w="12700">
            <a:solidFill>
              <a:srgbClr val="141413">
                <a:alpha val="22000"/>
              </a:srgbClr>
            </a:solidFill>
            <a:prstDash val="solid"/>
          </a:ln>
        </p:spPr>
        <p:txBody>
          <a:bodyPr/>
          <a:lstStyle/>
          <a:p>
            <a:endParaRPr lang="en-US"/>
          </a:p>
        </p:txBody>
      </p:sp>
      <p:sp>
        <p:nvSpPr>
          <p:cNvPr id="4" name="Shape 2"/>
          <p:cNvSpPr/>
          <p:nvPr/>
        </p:nvSpPr>
        <p:spPr>
          <a:xfrm>
            <a:off x="819150" y="2638519"/>
            <a:ext cx="0" cy="1744712"/>
          </a:xfrm>
          <a:prstGeom prst="line">
            <a:avLst/>
          </a:prstGeom>
          <a:noFill/>
          <a:ln w="12700">
            <a:solidFill>
              <a:srgbClr val="141413">
                <a:alpha val="22000"/>
              </a:srgbClr>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2909029670"/>
              </p:ext>
            </p:extLst>
          </p:nvPr>
        </p:nvGraphicFramePr>
        <p:xfrm>
          <a:off x="977900" y="2778219"/>
          <a:ext cx="10248900" cy="1478013"/>
        </p:xfrm>
        <a:graphic>
          <a:graphicData uri="http://schemas.openxmlformats.org/drawingml/2006/table">
            <a:tbl>
              <a:tblPr/>
              <a:tblGrid>
                <a:gridCol w="4099560">
                  <a:extLst>
                    <a:ext uri="{9D8B030D-6E8A-4147-A177-3AD203B41FA5}">
                      <a16:colId xmlns:a16="http://schemas.microsoft.com/office/drawing/2014/main" val="20000"/>
                    </a:ext>
                  </a:extLst>
                </a:gridCol>
                <a:gridCol w="2049780">
                  <a:extLst>
                    <a:ext uri="{9D8B030D-6E8A-4147-A177-3AD203B41FA5}">
                      <a16:colId xmlns:a16="http://schemas.microsoft.com/office/drawing/2014/main" val="20001"/>
                    </a:ext>
                  </a:extLst>
                </a:gridCol>
                <a:gridCol w="2049780">
                  <a:extLst>
                    <a:ext uri="{9D8B030D-6E8A-4147-A177-3AD203B41FA5}">
                      <a16:colId xmlns:a16="http://schemas.microsoft.com/office/drawing/2014/main" val="20002"/>
                    </a:ext>
                  </a:extLst>
                </a:gridCol>
                <a:gridCol w="2049780">
                  <a:extLst>
                    <a:ext uri="{9D8B030D-6E8A-4147-A177-3AD203B41FA5}">
                      <a16:colId xmlns:a16="http://schemas.microsoft.com/office/drawing/2014/main" val="20003"/>
                    </a:ext>
                  </a:extLst>
                </a:gridCol>
              </a:tblGrid>
              <a:tr h="492671">
                <a:tc>
                  <a:txBody>
                    <a:bodyPr/>
                    <a:lstStyle/>
                    <a:p>
                      <a:pPr marL="0" indent="0">
                        <a:lnSpc>
                          <a:spcPts val="2520"/>
                        </a:lnSpc>
                        <a:buNone/>
                      </a:pPr>
                      <a:r>
                        <a:rPr lang="en-US" sz="1800" b="1" dirty="0">
                          <a:solidFill>
                            <a:srgbClr val="14212B"/>
                          </a:solidFill>
                          <a:latin typeface="IBM Plex Sans" pitchFamily="34" charset="0"/>
                          <a:ea typeface="IBM Plex Sans" pitchFamily="34" charset="-122"/>
                          <a:cs typeface="IBM Plex Sans" pitchFamily="34" charset="-120"/>
                        </a:rPr>
                        <a:t>System</a:t>
                      </a:r>
                      <a:endParaRPr lang="en-US" sz="1800" dirty="0">
                        <a:latin typeface="IBM Plex Sans" charset="0"/>
                        <a:ea typeface="IBM Plex Sans" charset="0"/>
                        <a:cs typeface="IBM Plex Sans" charset="0"/>
                      </a:endParaRPr>
                    </a:p>
                  </a:txBody>
                  <a:tcPr marL="80010" marR="80010" marT="80010" marB="80010">
                    <a:lnL w="0" cap="flat" cmpd="sng" algn="ctr">
                      <a:noFill/>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520"/>
                        </a:lnSpc>
                        <a:buNone/>
                      </a:pPr>
                      <a:r>
                        <a:rPr lang="en-US" sz="1800" b="1" dirty="0">
                          <a:solidFill>
                            <a:srgbClr val="14212B"/>
                          </a:solidFill>
                          <a:latin typeface="IBM Plex Sans" pitchFamily="34" charset="0"/>
                          <a:ea typeface="IBM Plex Sans" pitchFamily="34" charset="-122"/>
                          <a:cs typeface="IBM Plex Sans" pitchFamily="34" charset="-120"/>
                        </a:rPr>
                        <a:t>Run 1</a:t>
                      </a:r>
                      <a:endParaRPr lang="en-US" sz="1800" dirty="0">
                        <a:latin typeface="IBM Plex Sans" charset="0"/>
                        <a:ea typeface="IBM Plex Sans" charset="0"/>
                        <a:cs typeface="IBM Plex Sans" charset="0"/>
                      </a:endParaRPr>
                    </a:p>
                  </a:txBody>
                  <a:tcPr marL="80010" marR="80010" marT="80010" marB="8001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520"/>
                        </a:lnSpc>
                        <a:buNone/>
                      </a:pPr>
                      <a:r>
                        <a:rPr lang="en-US" sz="1800" b="1" dirty="0">
                          <a:solidFill>
                            <a:srgbClr val="14212B"/>
                          </a:solidFill>
                          <a:latin typeface="IBM Plex Sans" pitchFamily="34" charset="0"/>
                          <a:ea typeface="IBM Plex Sans" pitchFamily="34" charset="-122"/>
                          <a:cs typeface="IBM Plex Sans" pitchFamily="34" charset="-120"/>
                        </a:rPr>
                        <a:t>Run 2</a:t>
                      </a:r>
                      <a:endParaRPr lang="en-US" sz="1800" dirty="0">
                        <a:latin typeface="IBM Plex Sans" charset="0"/>
                        <a:ea typeface="IBM Plex Sans" charset="0"/>
                        <a:cs typeface="IBM Plex Sans" charset="0"/>
                      </a:endParaRPr>
                    </a:p>
                  </a:txBody>
                  <a:tcPr marL="80010" marR="80010" marT="80010" marB="8001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520"/>
                        </a:lnSpc>
                        <a:buNone/>
                      </a:pPr>
                      <a:r>
                        <a:rPr lang="en-US" sz="1800" b="1" dirty="0">
                          <a:solidFill>
                            <a:srgbClr val="14212B"/>
                          </a:solidFill>
                          <a:latin typeface="IBM Plex Sans" pitchFamily="34" charset="0"/>
                          <a:ea typeface="IBM Plex Sans" pitchFamily="34" charset="-122"/>
                          <a:cs typeface="IBM Plex Sans" pitchFamily="34" charset="-120"/>
                        </a:rPr>
                        <a:t>Run 3</a:t>
                      </a:r>
                      <a:endParaRPr lang="en-US" sz="1800" dirty="0">
                        <a:latin typeface="IBM Plex Sans" charset="0"/>
                        <a:ea typeface="IBM Plex Sans" charset="0"/>
                        <a:cs typeface="IBM Plex Sans" charset="0"/>
                      </a:endParaRPr>
                    </a:p>
                  </a:txBody>
                  <a:tcPr marL="80010" marR="80010" marT="80010" marB="8001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92671">
                <a:tc>
                  <a:txBody>
                    <a:bodyPr/>
                    <a:lstStyle/>
                    <a:p>
                      <a:pPr marL="0" indent="0">
                        <a:lnSpc>
                          <a:spcPts val="2520"/>
                        </a:lnSpc>
                        <a:buNone/>
                      </a:pPr>
                      <a:r>
                        <a:rPr lang="en-US" sz="1800" dirty="0">
                          <a:solidFill>
                            <a:srgbClr val="2A6FB8"/>
                          </a:solidFill>
                          <a:latin typeface="IBM Plex Sans" pitchFamily="34" charset="0"/>
                          <a:ea typeface="IBM Plex Sans" pitchFamily="34" charset="-122"/>
                          <a:cs typeface="IBM Plex Sans" pitchFamily="34" charset="-120"/>
                        </a:rPr>
                        <a:t>Agent</a:t>
                      </a:r>
                      <a:endParaRPr lang="en-US" sz="1800" dirty="0">
                        <a:latin typeface="IBM Plex Sans" charset="0"/>
                        <a:ea typeface="IBM Plex Sans" charset="0"/>
                        <a:cs typeface="IBM Plex Sans" charset="0"/>
                      </a:endParaRPr>
                    </a:p>
                  </a:txBody>
                  <a:tcPr marL="80010" marR="80010" marT="80010" marB="80010">
                    <a:lnL w="0" cap="flat" cmpd="sng" algn="ctr">
                      <a:noFill/>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520"/>
                        </a:lnSpc>
                        <a:buNone/>
                      </a:pPr>
                      <a:r>
                        <a:rPr lang="en-US" sz="1800" dirty="0">
                          <a:solidFill>
                            <a:srgbClr val="14212B"/>
                          </a:solidFill>
                          <a:latin typeface="IBM Plex Sans" pitchFamily="34" charset="0"/>
                          <a:ea typeface="IBM Plex Sans" pitchFamily="34" charset="-122"/>
                          <a:cs typeface="IBM Plex Sans" pitchFamily="34" charset="-120"/>
                        </a:rPr>
                        <a:t>29</a:t>
                      </a:r>
                      <a:endParaRPr lang="en-US" sz="1800" dirty="0">
                        <a:latin typeface="IBM Plex Sans" charset="0"/>
                        <a:ea typeface="IBM Plex Sans" charset="0"/>
                        <a:cs typeface="IBM Plex Sans" charset="0"/>
                      </a:endParaRPr>
                    </a:p>
                  </a:txBody>
                  <a:tcPr marL="80010" marR="80010" marT="80010" marB="8001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520"/>
                        </a:lnSpc>
                        <a:buNone/>
                      </a:pPr>
                      <a:r>
                        <a:rPr lang="en-US" sz="1800" dirty="0">
                          <a:solidFill>
                            <a:srgbClr val="14212B"/>
                          </a:solidFill>
                          <a:latin typeface="IBM Plex Sans" pitchFamily="34" charset="0"/>
                          <a:ea typeface="IBM Plex Sans" pitchFamily="34" charset="-122"/>
                          <a:cs typeface="IBM Plex Sans" pitchFamily="34" charset="-120"/>
                        </a:rPr>
                        <a:t>29</a:t>
                      </a:r>
                      <a:endParaRPr lang="en-US" sz="1800" dirty="0">
                        <a:latin typeface="IBM Plex Sans" charset="0"/>
                        <a:ea typeface="IBM Plex Sans" charset="0"/>
                        <a:cs typeface="IBM Plex Sans" charset="0"/>
                      </a:endParaRPr>
                    </a:p>
                  </a:txBody>
                  <a:tcPr marL="80010" marR="80010" marT="80010" marB="8001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520"/>
                        </a:lnSpc>
                        <a:buNone/>
                      </a:pPr>
                      <a:r>
                        <a:rPr lang="en-US" sz="1800" dirty="0">
                          <a:solidFill>
                            <a:srgbClr val="14212B"/>
                          </a:solidFill>
                          <a:latin typeface="IBM Plex Sans" pitchFamily="34" charset="0"/>
                          <a:ea typeface="IBM Plex Sans" pitchFamily="34" charset="-122"/>
                          <a:cs typeface="IBM Plex Sans" pitchFamily="34" charset="-120"/>
                        </a:rPr>
                        <a:t>29</a:t>
                      </a:r>
                      <a:endParaRPr lang="en-US" sz="1800" dirty="0">
                        <a:latin typeface="IBM Plex Sans" charset="0"/>
                        <a:ea typeface="IBM Plex Sans" charset="0"/>
                        <a:cs typeface="IBM Plex Sans" charset="0"/>
                      </a:endParaRPr>
                    </a:p>
                  </a:txBody>
                  <a:tcPr marL="80010" marR="80010" marT="80010" marB="8001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92671">
                <a:tc>
                  <a:txBody>
                    <a:bodyPr/>
                    <a:lstStyle/>
                    <a:p>
                      <a:pPr marL="0" indent="0">
                        <a:lnSpc>
                          <a:spcPts val="2520"/>
                        </a:lnSpc>
                        <a:buNone/>
                      </a:pPr>
                      <a:r>
                        <a:rPr lang="en-US" sz="1800" dirty="0">
                          <a:solidFill>
                            <a:srgbClr val="C2561F"/>
                          </a:solidFill>
                          <a:latin typeface="IBM Plex Sans" pitchFamily="34" charset="0"/>
                          <a:ea typeface="IBM Plex Sans" pitchFamily="34" charset="-122"/>
                          <a:cs typeface="IBM Plex Sans" pitchFamily="34" charset="-120"/>
                        </a:rPr>
                        <a:t>Baseline</a:t>
                      </a:r>
                      <a:endParaRPr lang="en-US" sz="1800" dirty="0">
                        <a:latin typeface="IBM Plex Sans" charset="0"/>
                        <a:ea typeface="IBM Plex Sans" charset="0"/>
                        <a:cs typeface="IBM Plex Sans" charset="0"/>
                      </a:endParaRPr>
                    </a:p>
                  </a:txBody>
                  <a:tcPr marL="80010" marR="80010" marT="80010" marB="80010">
                    <a:lnL w="0" cap="flat" cmpd="sng" algn="ctr">
                      <a:noFill/>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520"/>
                        </a:lnSpc>
                        <a:buNone/>
                      </a:pPr>
                      <a:r>
                        <a:rPr lang="en-US" sz="1800" dirty="0">
                          <a:solidFill>
                            <a:srgbClr val="14212B"/>
                          </a:solidFill>
                          <a:latin typeface="IBM Plex Sans" pitchFamily="34" charset="0"/>
                          <a:ea typeface="IBM Plex Sans" pitchFamily="34" charset="-122"/>
                          <a:cs typeface="IBM Plex Sans" pitchFamily="34" charset="-120"/>
                        </a:rPr>
                        <a:t>23</a:t>
                      </a:r>
                      <a:endParaRPr lang="en-US" sz="1800" dirty="0">
                        <a:latin typeface="IBM Plex Sans" charset="0"/>
                        <a:ea typeface="IBM Plex Sans" charset="0"/>
                        <a:cs typeface="IBM Plex Sans" charset="0"/>
                      </a:endParaRPr>
                    </a:p>
                  </a:txBody>
                  <a:tcPr marL="80010" marR="80010" marT="80010" marB="8001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520"/>
                        </a:lnSpc>
                        <a:buNone/>
                      </a:pPr>
                      <a:r>
                        <a:rPr lang="en-US" sz="1800" dirty="0">
                          <a:solidFill>
                            <a:srgbClr val="14212B"/>
                          </a:solidFill>
                          <a:latin typeface="IBM Plex Sans" pitchFamily="34" charset="0"/>
                          <a:ea typeface="IBM Plex Sans" pitchFamily="34" charset="-122"/>
                          <a:cs typeface="IBM Plex Sans" pitchFamily="34" charset="-120"/>
                        </a:rPr>
                        <a:t>23</a:t>
                      </a:r>
                      <a:endParaRPr lang="en-US" sz="1800" dirty="0">
                        <a:latin typeface="IBM Plex Sans" charset="0"/>
                        <a:ea typeface="IBM Plex Sans" charset="0"/>
                        <a:cs typeface="IBM Plex Sans" charset="0"/>
                      </a:endParaRPr>
                    </a:p>
                  </a:txBody>
                  <a:tcPr marL="80010" marR="80010" marT="80010" marB="8001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520"/>
                        </a:lnSpc>
                        <a:buNone/>
                      </a:pPr>
                      <a:r>
                        <a:rPr lang="en-US" sz="1800" dirty="0">
                          <a:solidFill>
                            <a:srgbClr val="14212B"/>
                          </a:solidFill>
                          <a:latin typeface="IBM Plex Sans" pitchFamily="34" charset="0"/>
                          <a:ea typeface="IBM Plex Sans" pitchFamily="34" charset="-122"/>
                          <a:cs typeface="IBM Plex Sans" pitchFamily="34" charset="-120"/>
                        </a:rPr>
                        <a:t>26</a:t>
                      </a:r>
                      <a:endParaRPr lang="en-US" sz="1800" dirty="0">
                        <a:latin typeface="IBM Plex Sans" charset="0"/>
                        <a:ea typeface="IBM Plex Sans" charset="0"/>
                        <a:cs typeface="IBM Plex Sans" charset="0"/>
                      </a:endParaRPr>
                    </a:p>
                  </a:txBody>
                  <a:tcPr marL="80010" marR="80010" marT="80010" marB="8001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p:nvPr/>
        </p:nvSpPr>
        <p:spPr>
          <a:xfrm>
            <a:off x="812800" y="4688031"/>
            <a:ext cx="981075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14212B"/>
                </a:solidFill>
                <a:latin typeface="IBM Plex Sans" pitchFamily="34" charset="0"/>
                <a:ea typeface="IBM Plex Sans" pitchFamily="34" charset="-122"/>
                <a:cs typeface="IBM Plex Sans" pitchFamily="34" charset="-120"/>
              </a:rPr>
              <a:t>The agent returned the same count every time. The baseline moved by three records between runs, so any single comparison of the two is reading one draw from a distribution.</a:t>
            </a:r>
            <a:endParaRPr lang="en-US" sz="1700" dirty="0"/>
          </a:p>
        </p:txBody>
      </p:sp>
      <p:sp>
        <p:nvSpPr>
          <p:cNvPr id="7" name="Text 4"/>
          <p:cNvSpPr/>
          <p:nvPr/>
        </p:nvSpPr>
        <p:spPr>
          <a:xfrm>
            <a:off x="812800" y="6238280"/>
            <a:ext cx="69106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0"/>
                </a:solidFill>
                <a:latin typeface="IBM Plex Sans" pitchFamily="34" charset="0"/>
                <a:ea typeface="IBM Plex Sans" pitchFamily="34" charset="-122"/>
                <a:cs typeface="IBM Plex Sans" pitchFamily="34" charset="-120"/>
              </a:rPr>
              <a:t>Neither system sets a temperature or a seed; both use the model’s default sampling.</a:t>
            </a:r>
            <a:endParaRPr lang="en-US" sz="1200" dirty="0"/>
          </a:p>
        </p:txBody>
      </p:sp>
      <p:sp>
        <p:nvSpPr>
          <p:cNvPr id="8" name="Text 0">
            <a:extLst>
              <a:ext uri="{FF2B5EF4-FFF2-40B4-BE49-F238E27FC236}">
                <a16:creationId xmlns:a16="http://schemas.microsoft.com/office/drawing/2014/main" id="{909F9E76-9F6F-C5FE-A658-DBED6A8733E4}"/>
              </a:ext>
            </a:extLst>
          </p:cNvPr>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2F6DA8"/>
                </a:solidFill>
                <a:latin typeface="Nunito Sans" pitchFamily="34" charset="0"/>
                <a:ea typeface="Nunito Sans" pitchFamily="34" charset="-122"/>
                <a:cs typeface="Nunito Sans" pitchFamily="34" charset="-120"/>
              </a:rPr>
              <a:t>STAGE 3 · EVALUATIONS: RUN-TO-RUN VARIABILITY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1340697"/>
            <a:ext cx="11379200" cy="47243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2B"/>
                </a:solidFill>
                <a:latin typeface="Source Serif 4" pitchFamily="18" charset="0"/>
                <a:ea typeface="Source Serif 4" pitchFamily="18" charset="-122"/>
                <a:cs typeface="Source Serif 4" pitchFamily="18" charset="-120"/>
              </a:rPr>
              <a:t>Field values that came back identical in all three runs</a:t>
            </a:r>
            <a:endParaRPr lang="en-US" sz="3200" dirty="0"/>
          </a:p>
        </p:txBody>
      </p:sp>
      <p:sp>
        <p:nvSpPr>
          <p:cNvPr id="3" name="Shape 1"/>
          <p:cNvSpPr/>
          <p:nvPr/>
        </p:nvSpPr>
        <p:spPr>
          <a:xfrm>
            <a:off x="812800" y="2073078"/>
            <a:ext cx="10566400" cy="0"/>
          </a:xfrm>
          <a:prstGeom prst="line">
            <a:avLst/>
          </a:prstGeom>
          <a:noFill/>
          <a:ln w="12700">
            <a:solidFill>
              <a:srgbClr val="141413">
                <a:alpha val="22000"/>
              </a:srgbClr>
            </a:solidFill>
            <a:prstDash val="solid"/>
          </a:ln>
        </p:spPr>
        <p:txBody>
          <a:bodyPr/>
          <a:lstStyle/>
          <a:p>
            <a:endParaRPr lang="en-US"/>
          </a:p>
        </p:txBody>
      </p:sp>
      <p:sp>
        <p:nvSpPr>
          <p:cNvPr id="4" name="Shape 2"/>
          <p:cNvSpPr/>
          <p:nvPr/>
        </p:nvSpPr>
        <p:spPr>
          <a:xfrm>
            <a:off x="819150" y="2066728"/>
            <a:ext cx="0" cy="3079750"/>
          </a:xfrm>
          <a:prstGeom prst="line">
            <a:avLst/>
          </a:prstGeom>
          <a:noFill/>
          <a:ln w="12700">
            <a:solidFill>
              <a:srgbClr val="141413">
                <a:alpha val="22000"/>
              </a:srgbClr>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3181480156"/>
              </p:ext>
            </p:extLst>
          </p:nvPr>
        </p:nvGraphicFramePr>
        <p:xfrm>
          <a:off x="977900" y="2168328"/>
          <a:ext cx="10248900" cy="2889250"/>
        </p:xfrm>
        <a:graphic>
          <a:graphicData uri="http://schemas.openxmlformats.org/drawingml/2006/table">
            <a:tbl>
              <a:tblPr/>
              <a:tblGrid>
                <a:gridCol w="4714494">
                  <a:extLst>
                    <a:ext uri="{9D8B030D-6E8A-4147-A177-3AD203B41FA5}">
                      <a16:colId xmlns:a16="http://schemas.microsoft.com/office/drawing/2014/main" val="20000"/>
                    </a:ext>
                  </a:extLst>
                </a:gridCol>
                <a:gridCol w="2767203">
                  <a:extLst>
                    <a:ext uri="{9D8B030D-6E8A-4147-A177-3AD203B41FA5}">
                      <a16:colId xmlns:a16="http://schemas.microsoft.com/office/drawing/2014/main" val="20001"/>
                    </a:ext>
                  </a:extLst>
                </a:gridCol>
                <a:gridCol w="2767203">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Field</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100"/>
                        </a:lnSpc>
                        <a:buNone/>
                      </a:pPr>
                      <a:r>
                        <a:rPr lang="en-US" sz="1500" b="1" dirty="0">
                          <a:solidFill>
                            <a:srgbClr val="2A6FB8"/>
                          </a:solidFill>
                          <a:latin typeface="IBM Plex Sans" pitchFamily="34" charset="0"/>
                          <a:ea typeface="IBM Plex Sans" pitchFamily="34" charset="-122"/>
                          <a:cs typeface="IBM Plex Sans" pitchFamily="34" charset="-120"/>
                        </a:rPr>
                        <a:t>Agent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100"/>
                        </a:lnSpc>
                        <a:buNone/>
                      </a:pPr>
                      <a:r>
                        <a:rPr lang="en-US" sz="1500" b="1" dirty="0">
                          <a:solidFill>
                            <a:srgbClr val="C2561F"/>
                          </a:solidFill>
                          <a:latin typeface="IBM Plex Sans" pitchFamily="34" charset="0"/>
                          <a:ea typeface="IBM Plex Sans" pitchFamily="34" charset="-122"/>
                          <a:cs typeface="IBM Plex Sans" pitchFamily="34" charset="-120"/>
                        </a:rPr>
                        <a:t>Baseline</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0" cap="flat" cmpd="sng" algn="ctr">
                      <a:noFill/>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2B"/>
                          </a:solidFill>
                          <a:latin typeface="IBM Plex Sans" pitchFamily="34" charset="0"/>
                          <a:ea typeface="IBM Plex Sans" pitchFamily="34" charset="-122"/>
                          <a:cs typeface="IBM Plex Sans" pitchFamily="34" charset="-120"/>
                        </a:rPr>
                        <a:t>Makes MCFA</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2B"/>
                          </a:solidFill>
                          <a:latin typeface="IBM Plex Sans" pitchFamily="34" charset="0"/>
                          <a:ea typeface="IBM Plex Sans" pitchFamily="34" charset="-122"/>
                          <a:cs typeface="IBM Plex Sans" pitchFamily="34" charset="-120"/>
                        </a:rPr>
                        <a:t>MCFA products</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95%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2B"/>
                          </a:solidFill>
                          <a:latin typeface="IBM Plex Sans" pitchFamily="34" charset="0"/>
                          <a:ea typeface="IBM Plex Sans" pitchFamily="34" charset="-122"/>
                          <a:cs typeface="IBM Plex Sans" pitchFamily="34" charset="-120"/>
                        </a:rPr>
                        <a:t>Source type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90%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2B"/>
                          </a:solidFill>
                          <a:latin typeface="IBM Plex Sans" pitchFamily="34" charset="0"/>
                          <a:ea typeface="IBM Plex Sans" pitchFamily="34" charset="-122"/>
                          <a:cs typeface="IBM Plex Sans" pitchFamily="34" charset="-120"/>
                        </a:rPr>
                        <a:t>Strain origin</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96%</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85%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212B"/>
                          </a:solidFill>
                          <a:latin typeface="IBM Plex Sans" pitchFamily="34" charset="0"/>
                          <a:ea typeface="IBM Plex Sans" pitchFamily="34" charset="-122"/>
                          <a:cs typeface="IBM Plex Sans" pitchFamily="34" charset="-120"/>
                        </a:rPr>
                        <a:t>Isolation source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64%</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45%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4212B"/>
                          </a:solidFill>
                          <a:latin typeface="IBM Plex Sans" pitchFamily="34" charset="0"/>
                          <a:ea typeface="IBM Plex Sans" pitchFamily="34" charset="-122"/>
                          <a:cs typeface="IBM Plex Sans" pitchFamily="34" charset="-120"/>
                        </a:rPr>
                        <a:t>MCFA titer</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40%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100"/>
                        </a:lnSpc>
                        <a:buNone/>
                      </a:pPr>
                      <a:r>
                        <a:rPr lang="en-US" sz="1500" dirty="0">
                          <a:solidFill>
                            <a:srgbClr val="14212B"/>
                          </a:solidFill>
                          <a:latin typeface="IBM Plex Sans" pitchFamily="34" charset="0"/>
                          <a:ea typeface="IBM Plex Sans" pitchFamily="34" charset="-122"/>
                          <a:cs typeface="IBM Plex Sans" pitchFamily="34" charset="-120"/>
                        </a:rPr>
                        <a:t>25%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5400478"/>
            <a:ext cx="10203180" cy="61466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4212B"/>
                </a:solidFill>
                <a:latin typeface="IBM Plex Sans" pitchFamily="34" charset="0"/>
                <a:ea typeface="IBM Plex Sans" pitchFamily="34" charset="-122"/>
                <a:cs typeface="IBM Plex Sans" pitchFamily="34" charset="-120"/>
              </a:rPr>
              <a:t>The split is by field type, not by system. Categorical answers repeat; free text is rewritten each run. Both systems show the same pattern, the baseline more strongly.</a:t>
            </a:r>
            <a:endParaRPr lang="en-US" sz="1600" dirty="0"/>
          </a:p>
        </p:txBody>
      </p:sp>
      <p:sp>
        <p:nvSpPr>
          <p:cNvPr id="7" name="Text 4"/>
          <p:cNvSpPr/>
          <p:nvPr/>
        </p:nvSpPr>
        <p:spPr>
          <a:xfrm>
            <a:off x="812800" y="6238280"/>
            <a:ext cx="72309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0"/>
                </a:solidFill>
                <a:latin typeface="IBM Plex Sans" pitchFamily="34" charset="0"/>
                <a:ea typeface="IBM Plex Sans" pitchFamily="34" charset="-122"/>
                <a:cs typeface="IBM Plex Sans" pitchFamily="34" charset="-120"/>
              </a:rPr>
              <a:t>Measured on organisms that appeared in every run: 29 for the agent, 20 for the baseline.</a:t>
            </a:r>
            <a:endParaRPr lang="en-US" sz="1200" dirty="0"/>
          </a:p>
        </p:txBody>
      </p:sp>
      <p:sp>
        <p:nvSpPr>
          <p:cNvPr id="9" name="Text 0">
            <a:extLst>
              <a:ext uri="{FF2B5EF4-FFF2-40B4-BE49-F238E27FC236}">
                <a16:creationId xmlns:a16="http://schemas.microsoft.com/office/drawing/2014/main" id="{DAF2784B-A7E1-A3DD-E407-DD77837C086E}"/>
              </a:ext>
            </a:extLst>
          </p:cNvPr>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2F6DA8"/>
                </a:solidFill>
                <a:latin typeface="Nunito Sans" pitchFamily="34" charset="0"/>
                <a:ea typeface="Nunito Sans" pitchFamily="34" charset="-122"/>
                <a:cs typeface="Nunito Sans" pitchFamily="34" charset="-120"/>
              </a:rPr>
              <a:t>STAGE 3 · EVALUATIONS: RUN-TO-RUN VARIABILITY  </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EA432-A381-EA6C-0826-6EAE0A4F579B}"/>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FB79B5D4-98AA-07F2-9F89-FCA44E590C04}"/>
              </a:ext>
            </a:extLst>
          </p:cNvPr>
          <p:cNvSpPr/>
          <p:nvPr/>
        </p:nvSpPr>
        <p:spPr>
          <a:xfrm>
            <a:off x="812800" y="812800"/>
            <a:ext cx="10883392" cy="274290"/>
          </a:xfrm>
          <a:prstGeom prst="rect">
            <a:avLst/>
          </a:prstGeom>
          <a:noFill/>
          <a:ln/>
        </p:spPr>
        <p:txBody>
          <a:bodyPr wrap="square" lIns="0" tIns="0" rIns="0" bIns="0" rtlCol="0" anchor="t">
            <a:normAutofit/>
          </a:bodyPr>
          <a:lstStyle/>
          <a:p>
            <a:pPr>
              <a:lnSpc>
                <a:spcPts val="1960"/>
              </a:lnSpc>
            </a:pPr>
            <a:r>
              <a:rPr lang="en-US" sz="1400" b="1" kern="0" spc="150" dirty="0">
                <a:solidFill>
                  <a:srgbClr val="2F6DA8"/>
                </a:solidFill>
                <a:latin typeface="Nunito Sans" pitchFamily="34" charset="0"/>
                <a:ea typeface="Nunito Sans" pitchFamily="34" charset="-122"/>
                <a:cs typeface="Nunito Sans" pitchFamily="34" charset="-120"/>
              </a:rPr>
              <a:t>STAGE 3 · EVALUATIONS: MODEL VARIABILITY </a:t>
            </a:r>
            <a:endParaRPr lang="en-US" sz="1400" dirty="0"/>
          </a:p>
        </p:txBody>
      </p:sp>
      <p:pic>
        <p:nvPicPr>
          <p:cNvPr id="2" name="Picture 1">
            <a:extLst>
              <a:ext uri="{FF2B5EF4-FFF2-40B4-BE49-F238E27FC236}">
                <a16:creationId xmlns:a16="http://schemas.microsoft.com/office/drawing/2014/main" id="{887FB432-6368-8CBC-CCC6-29510C246BA3}"/>
              </a:ext>
            </a:extLst>
          </p:cNvPr>
          <p:cNvPicPr>
            <a:picLocks noChangeAspect="1"/>
          </p:cNvPicPr>
          <p:nvPr/>
        </p:nvPicPr>
        <p:blipFill>
          <a:blip r:embed="rId3"/>
          <a:stretch>
            <a:fillRect/>
          </a:stretch>
        </p:blipFill>
        <p:spPr>
          <a:xfrm>
            <a:off x="1422990" y="1183782"/>
            <a:ext cx="8699206" cy="5393508"/>
          </a:xfrm>
          <a:prstGeom prst="rect">
            <a:avLst/>
          </a:prstGeom>
        </p:spPr>
      </p:pic>
    </p:spTree>
    <p:extLst>
      <p:ext uri="{BB962C8B-B14F-4D97-AF65-F5344CB8AC3E}">
        <p14:creationId xmlns:p14="http://schemas.microsoft.com/office/powerpoint/2010/main" val="2991113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C5F88-6FE2-24C2-B765-961D51608847}"/>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1FBDCBFE-248F-19AB-9ACE-F104C35494B0}"/>
              </a:ext>
            </a:extLst>
          </p:cNvPr>
          <p:cNvSpPr/>
          <p:nvPr/>
        </p:nvSpPr>
        <p:spPr>
          <a:xfrm>
            <a:off x="812800" y="812800"/>
            <a:ext cx="10883392" cy="274290"/>
          </a:xfrm>
          <a:prstGeom prst="rect">
            <a:avLst/>
          </a:prstGeom>
          <a:noFill/>
          <a:ln/>
        </p:spPr>
        <p:txBody>
          <a:bodyPr wrap="square" lIns="0" tIns="0" rIns="0" bIns="0" rtlCol="0" anchor="t">
            <a:normAutofit/>
          </a:bodyPr>
          <a:lstStyle/>
          <a:p>
            <a:pPr>
              <a:lnSpc>
                <a:spcPts val="1960"/>
              </a:lnSpc>
            </a:pPr>
            <a:r>
              <a:rPr lang="en-US" sz="1400" b="1" kern="0" spc="150" dirty="0">
                <a:solidFill>
                  <a:srgbClr val="2F6DA8"/>
                </a:solidFill>
                <a:latin typeface="Nunito Sans" pitchFamily="34" charset="0"/>
                <a:ea typeface="Nunito Sans" pitchFamily="34" charset="-122"/>
                <a:cs typeface="Nunito Sans" pitchFamily="34" charset="-120"/>
              </a:rPr>
              <a:t>STAGE 3 · EVALUATIONS: MODEL VARIABILITY </a:t>
            </a:r>
            <a:endParaRPr lang="en-US" sz="1400" dirty="0"/>
          </a:p>
        </p:txBody>
      </p:sp>
      <p:pic>
        <p:nvPicPr>
          <p:cNvPr id="4" name="Picture 3">
            <a:extLst>
              <a:ext uri="{FF2B5EF4-FFF2-40B4-BE49-F238E27FC236}">
                <a16:creationId xmlns:a16="http://schemas.microsoft.com/office/drawing/2014/main" id="{9CC3379A-7149-EE23-7C1D-283961AA3F22}"/>
              </a:ext>
            </a:extLst>
          </p:cNvPr>
          <p:cNvPicPr>
            <a:picLocks noChangeAspect="1"/>
          </p:cNvPicPr>
          <p:nvPr/>
        </p:nvPicPr>
        <p:blipFill>
          <a:blip r:embed="rId3"/>
          <a:stretch>
            <a:fillRect/>
          </a:stretch>
        </p:blipFill>
        <p:spPr>
          <a:xfrm>
            <a:off x="155619" y="1531088"/>
            <a:ext cx="11961629" cy="4146698"/>
          </a:xfrm>
          <a:prstGeom prst="rect">
            <a:avLst/>
          </a:prstGeom>
        </p:spPr>
      </p:pic>
    </p:spTree>
    <p:extLst>
      <p:ext uri="{BB962C8B-B14F-4D97-AF65-F5344CB8AC3E}">
        <p14:creationId xmlns:p14="http://schemas.microsoft.com/office/powerpoint/2010/main" val="1207296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812800" y="21006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A35E"/>
                </a:solidFill>
                <a:latin typeface="Nunito Sans" pitchFamily="34" charset="0"/>
                <a:ea typeface="Nunito Sans" pitchFamily="34" charset="-122"/>
                <a:cs typeface="Nunito Sans" pitchFamily="34" charset="-120"/>
              </a:rPr>
              <a:t>IN ONE LINE</a:t>
            </a:r>
            <a:endParaRPr lang="en-US" sz="1400" dirty="0"/>
          </a:p>
        </p:txBody>
      </p:sp>
      <p:sp>
        <p:nvSpPr>
          <p:cNvPr id="3" name="Text 1"/>
          <p:cNvSpPr>
            <a:spLocks noGrp="1"/>
          </p:cNvSpPr>
          <p:nvPr>
            <p:ph type="title"/>
          </p:nvPr>
        </p:nvSpPr>
        <p:spPr>
          <a:xfrm>
            <a:off x="812800" y="2654300"/>
            <a:ext cx="9810750" cy="2128490"/>
          </a:xfrm>
          <a:prstGeom prst="rect">
            <a:avLst/>
          </a:prstGeom>
          <a:noFill/>
          <a:ln/>
        </p:spPr>
        <p:txBody>
          <a:bodyPr wrap="square" lIns="0" tIns="0" rIns="0" bIns="0" rtlCol="0" anchor="t">
            <a:normAutofit/>
          </a:bodyPr>
          <a:lstStyle/>
          <a:p>
            <a:pPr marL="0" indent="0" algn="l">
              <a:lnSpc>
                <a:spcPts val="5520"/>
              </a:lnSpc>
              <a:buNone/>
            </a:pPr>
            <a:r>
              <a:rPr lang="en-US" sz="4800" b="1" i="0" dirty="0" err="1">
                <a:solidFill>
                  <a:srgbClr val="FBF7EF"/>
                </a:solidFill>
                <a:latin typeface="Fredoka" pitchFamily="34" charset="0"/>
                <a:ea typeface="Fredoka" pitchFamily="34" charset="-122"/>
                <a:cs typeface="Fredoka" pitchFamily="34" charset="-120"/>
              </a:rPr>
              <a:t>LitVault</a:t>
            </a:r>
            <a:r>
              <a:rPr lang="en-US" sz="4800" b="1" i="0" dirty="0">
                <a:solidFill>
                  <a:srgbClr val="FBF7EF"/>
                </a:solidFill>
                <a:latin typeface="Fredoka" pitchFamily="34" charset="0"/>
                <a:ea typeface="Fredoka" pitchFamily="34" charset="-122"/>
                <a:cs typeface="Fredoka" pitchFamily="34" charset="-120"/>
              </a:rPr>
              <a:t> decides what’s worth reading. </a:t>
            </a:r>
            <a:r>
              <a:rPr lang="en-US" sz="4800" b="1" i="0" dirty="0">
                <a:solidFill>
                  <a:srgbClr val="F2A35E"/>
                </a:solidFill>
                <a:latin typeface="Fredoka" pitchFamily="34" charset="0"/>
                <a:ea typeface="Fredoka" pitchFamily="34" charset="-122"/>
                <a:cs typeface="Fredoka" pitchFamily="34" charset="-120"/>
              </a:rPr>
              <a:t>The Extraction Agent remembers what it said.</a:t>
            </a:r>
            <a:endParaRPr lang="en-US" sz="4800" dirty="0"/>
          </a:p>
        </p:txBody>
      </p:sp>
    </p:spTree>
  </p:cSld>
  <p:clrMapOvr>
    <a:masterClrMapping/>
  </p:clrMapOvr>
</p:sld>
</file>

<file path=ppt/theme/theme1.xml><?xml version="1.0" encoding="utf-8"?>
<a:theme xmlns:a="http://schemas.openxmlformats.org/drawingml/2006/main" name="LitVault + Extraction Architecture">
  <a:themeElements>
    <a:clrScheme name="LitVault + Extraction Architecture">
      <a:dk1>
        <a:srgbClr val="1F2A44"/>
      </a:dk1>
      <a:lt1>
        <a:srgbClr val="FBF7EF"/>
      </a:lt1>
      <a:dk2>
        <a:srgbClr val="565D6F"/>
      </a:dk2>
      <a:lt2>
        <a:srgbClr val="E5E3DE"/>
      </a:lt2>
      <a:accent1>
        <a:srgbClr val="B85A1B"/>
      </a:accent1>
      <a:accent2>
        <a:srgbClr val="2F6DA8"/>
      </a:accent2>
      <a:accent3>
        <a:srgbClr val="F2A35E"/>
      </a:accent3>
      <a:accent4>
        <a:srgbClr val="4A5568"/>
      </a:accent4>
      <a:accent5>
        <a:srgbClr val="D5DCE8"/>
      </a:accent5>
      <a:accent6>
        <a:srgbClr val="9AA0A6"/>
      </a:accent6>
      <a:hlink>
        <a:srgbClr val="0563C1"/>
      </a:hlink>
      <a:folHlink>
        <a:srgbClr val="954F72"/>
      </a:folHlink>
    </a:clrScheme>
    <a:fontScheme name="LitVault + Extraction Architecture">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1686</Words>
  <Application>Microsoft Macintosh PowerPoint</Application>
  <PresentationFormat>Widescreen</PresentationFormat>
  <Paragraphs>197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IBM Plex Sans</vt:lpstr>
      <vt:lpstr>Nunito Sans</vt:lpstr>
      <vt:lpstr>Fredoka</vt:lpstr>
      <vt:lpstr>Arial</vt:lpstr>
      <vt:lpstr>Source Serif 4</vt:lpstr>
      <vt:lpstr>LitVault + Extraction Architecture</vt:lpstr>
      <vt:lpstr>From weekly preprints to a live database</vt:lpstr>
      <vt:lpstr>A short story about literature reviews on the throne. </vt:lpstr>
      <vt:lpstr>The morning scroll</vt:lpstr>
      <vt:lpstr>He grabs whatever paper is within reach</vt:lpstr>
      <vt:lpstr>Then the messages arrive</vt:lpstr>
      <vt:lpstr>Meet LitVault</vt:lpstr>
      <vt:lpstr>What’s more?</vt:lpstr>
      <vt:lpstr>The Extraction Agent reads each PDF</vt:lpstr>
      <vt:lpstr>The Extraction Agent also identifies the key references cited in the paper. </vt:lpstr>
      <vt:lpstr>The database stays live</vt:lpstr>
      <vt:lpstr>Organism records found, three runs of identical input (16 Papers)</vt:lpstr>
      <vt:lpstr>Field values that came back identical in all three runs</vt:lpstr>
      <vt:lpstr>PowerPoint Presentation</vt:lpstr>
      <vt:lpstr>PowerPoint Presentation</vt:lpstr>
      <vt:lpstr>LitVault decides what’s worth reading. The Extraction Agent remembers what it said.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LitVault + Extraction Architecture</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Fredoka
Copyright 2016 The Fredoka Project Authors (https://github.com/hafontia/Fredoka-One)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Xu Chen</cp:lastModifiedBy>
  <cp:revision>6</cp:revision>
  <dcterms:created xsi:type="dcterms:W3CDTF">2026-10-21T15:51:01Z</dcterms:created>
  <dcterms:modified xsi:type="dcterms:W3CDTF">2026-10-21T19:54:58Z</dcterms:modified>
</cp:coreProperties>
</file>